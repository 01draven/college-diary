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6" r:id="rId2"/>
    <p:sldId id="257" r:id="rId3"/>
    <p:sldId id="258" r:id="rId4"/>
    <p:sldId id="259" r:id="rId5"/>
    <p:sldId id="282" r:id="rId6"/>
    <p:sldId id="260" r:id="rId7"/>
    <p:sldId id="261" r:id="rId8"/>
    <p:sldId id="283" r:id="rId9"/>
    <p:sldId id="262" r:id="rId10"/>
    <p:sldId id="263" r:id="rId11"/>
    <p:sldId id="285" r:id="rId12"/>
    <p:sldId id="284" r:id="rId13"/>
    <p:sldId id="265" r:id="rId14"/>
    <p:sldId id="266" r:id="rId15"/>
    <p:sldId id="286" r:id="rId16"/>
    <p:sldId id="281" r:id="rId17"/>
    <p:sldId id="287" r:id="rId18"/>
    <p:sldId id="267" r:id="rId19"/>
    <p:sldId id="288" r:id="rId20"/>
    <p:sldId id="268" r:id="rId21"/>
    <p:sldId id="269" r:id="rId22"/>
    <p:sldId id="270" r:id="rId23"/>
    <p:sldId id="271" r:id="rId24"/>
    <p:sldId id="272" r:id="rId25"/>
    <p:sldId id="273" r:id="rId26"/>
    <p:sldId id="274" r:id="rId27"/>
    <p:sldId id="275" r:id="rId28"/>
    <p:sldId id="276" r:id="rId29"/>
    <p:sldId id="277" r:id="rId30"/>
    <p:sldId id="278" r:id="rId31"/>
    <p:sldId id="290" r:id="rId32"/>
    <p:sldId id="291" r:id="rId33"/>
    <p:sldId id="292" r:id="rId34"/>
    <p:sldId id="293" r:id="rId35"/>
    <p:sldId id="279" r:id="rId36"/>
    <p:sldId id="280" r:id="rId37"/>
  </p:sldIdLst>
  <p:sldSz cx="18288000" cy="10287000"/>
  <p:notesSz cx="6858000" cy="9144000"/>
  <p:embeddedFontLst>
    <p:embeddedFont>
      <p:font typeface="Courier Prime" panose="020B0604020202020204" charset="0"/>
      <p:regular r:id="rId39"/>
    </p:embeddedFont>
    <p:embeddedFont>
      <p:font typeface="TAN Harmoni" panose="020B0604020202020204"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4622" autoAdjust="0"/>
  </p:normalViewPr>
  <p:slideViewPr>
    <p:cSldViewPr>
      <p:cViewPr>
        <p:scale>
          <a:sx n="75" d="100"/>
          <a:sy n="75" d="100"/>
        </p:scale>
        <p:origin x="7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C84C0-9B51-4D50-889B-ADEE1CD63B9C}" type="datetimeFigureOut">
              <a:rPr lang="en-PH" smtClean="0"/>
              <a:t>22/03/2026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502E28-F4E2-4DD0-9C19-4923E5273991}" type="slidenum">
              <a:rPr lang="en-PH" smtClean="0"/>
              <a:t>‹#›</a:t>
            </a:fld>
            <a:endParaRPr lang="en-PH"/>
          </a:p>
        </p:txBody>
      </p:sp>
    </p:spTree>
    <p:extLst>
      <p:ext uri="{BB962C8B-B14F-4D97-AF65-F5344CB8AC3E}">
        <p14:creationId xmlns:p14="http://schemas.microsoft.com/office/powerpoint/2010/main" val="4044505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72502E28-F4E2-4DD0-9C19-4923E5273991}" type="slidenum">
              <a:rPr lang="en-PH" smtClean="0"/>
              <a:t>31</a:t>
            </a:fld>
            <a:endParaRPr lang="en-PH"/>
          </a:p>
        </p:txBody>
      </p:sp>
    </p:spTree>
    <p:extLst>
      <p:ext uri="{BB962C8B-B14F-4D97-AF65-F5344CB8AC3E}">
        <p14:creationId xmlns:p14="http://schemas.microsoft.com/office/powerpoint/2010/main" val="226191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a:off x="-2667000" y="0"/>
            <a:ext cx="21881378" cy="10287000"/>
          </a:xfrm>
          <a:custGeom>
            <a:avLst/>
            <a:gdLst/>
            <a:ahLst/>
            <a:cxnLst/>
            <a:rect l="l" t="t" r="r" b="b"/>
            <a:pathLst>
              <a:path w="21881378" h="10287000">
                <a:moveTo>
                  <a:pt x="0" y="0"/>
                </a:moveTo>
                <a:lnTo>
                  <a:pt x="21881378" y="0"/>
                </a:lnTo>
                <a:lnTo>
                  <a:pt x="21881378" y="10287000"/>
                </a:lnTo>
                <a:lnTo>
                  <a:pt x="0" y="10287000"/>
                </a:lnTo>
                <a:lnTo>
                  <a:pt x="0" y="0"/>
                </a:lnTo>
                <a:close/>
              </a:path>
            </a:pathLst>
          </a:custGeom>
          <a:blipFill>
            <a:blip r:embed="rId2">
              <a:alphaModFix amt="16000"/>
            </a:blip>
            <a:stretch>
              <a:fillRect/>
            </a:stretch>
          </a:blipFill>
        </p:spPr>
      </p:sp>
      <p:sp>
        <p:nvSpPr>
          <p:cNvPr id="3" name="Freeform 3"/>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3">
              <a:extLst>
                <a:ext uri="{96DAC541-7B7A-43D3-8B79-37D633B846F1}">
                  <asvg:svgBlip xmlns:asvg="http://schemas.microsoft.com/office/drawing/2016/SVG/main" r:embed="rId4"/>
                </a:ext>
              </a:extLst>
            </a:blip>
            <a:stretch>
              <a:fillRect b="-91370"/>
            </a:stretch>
          </a:blipFill>
        </p:spPr>
      </p:sp>
      <p:sp>
        <p:nvSpPr>
          <p:cNvPr id="4" name="Freeform 4"/>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3">
              <a:extLst>
                <a:ext uri="{96DAC541-7B7A-43D3-8B79-37D633B846F1}">
                  <asvg:svgBlip xmlns:asvg="http://schemas.microsoft.com/office/drawing/2016/SVG/main" r:embed="rId4"/>
                </a:ext>
              </a:extLst>
            </a:blip>
            <a:stretch>
              <a:fillRect b="-91370"/>
            </a:stretch>
          </a:blipFill>
        </p:spPr>
      </p:sp>
      <p:sp>
        <p:nvSpPr>
          <p:cNvPr id="5" name="Freeform 5"/>
          <p:cNvSpPr/>
          <p:nvPr/>
        </p:nvSpPr>
        <p:spPr>
          <a:xfrm>
            <a:off x="10049468" y="2011763"/>
            <a:ext cx="6521484" cy="6228017"/>
          </a:xfrm>
          <a:custGeom>
            <a:avLst/>
            <a:gdLst/>
            <a:ahLst/>
            <a:cxnLst/>
            <a:rect l="l" t="t" r="r" b="b"/>
            <a:pathLst>
              <a:path w="6521484" h="6228017">
                <a:moveTo>
                  <a:pt x="0" y="0"/>
                </a:moveTo>
                <a:lnTo>
                  <a:pt x="6521484" y="0"/>
                </a:lnTo>
                <a:lnTo>
                  <a:pt x="6521484" y="6228017"/>
                </a:lnTo>
                <a:lnTo>
                  <a:pt x="0" y="6228017"/>
                </a:lnTo>
                <a:lnTo>
                  <a:pt x="0" y="0"/>
                </a:lnTo>
                <a:close/>
              </a:path>
            </a:pathLst>
          </a:custGeom>
          <a:blipFill>
            <a:blip r:embed="rId5"/>
            <a:stretch>
              <a:fillRect/>
            </a:stretch>
          </a:blipFill>
        </p:spPr>
        <p:txBody>
          <a:bodyPr/>
          <a:lstStyle/>
          <a:p>
            <a:endParaRPr lang="en-PH" dirty="0"/>
          </a:p>
        </p:txBody>
      </p:sp>
      <p:sp>
        <p:nvSpPr>
          <p:cNvPr id="6" name="TextBox 6"/>
          <p:cNvSpPr txBox="1"/>
          <p:nvPr/>
        </p:nvSpPr>
        <p:spPr>
          <a:xfrm>
            <a:off x="1726573" y="3524169"/>
            <a:ext cx="7996651" cy="3976021"/>
          </a:xfrm>
          <a:prstGeom prst="rect">
            <a:avLst/>
          </a:prstGeom>
        </p:spPr>
        <p:txBody>
          <a:bodyPr lIns="0" tIns="0" rIns="0" bIns="0" rtlCol="0" anchor="t">
            <a:spAutoFit/>
          </a:bodyPr>
          <a:lstStyle/>
          <a:p>
            <a:pPr algn="l">
              <a:lnSpc>
                <a:spcPts val="24102"/>
              </a:lnSpc>
            </a:pPr>
            <a:r>
              <a:rPr lang="en-US" sz="26780" spc="-990">
                <a:solidFill>
                  <a:srgbClr val="2D3621"/>
                </a:solidFill>
                <a:latin typeface="TAN Harmoni"/>
                <a:ea typeface="TAN Harmoni"/>
                <a:cs typeface="TAN Harmoni"/>
                <a:sym typeface="TAN Harmoni"/>
              </a:rPr>
              <a:t>PEDRO,</a:t>
            </a:r>
          </a:p>
        </p:txBody>
      </p:sp>
      <p:sp>
        <p:nvSpPr>
          <p:cNvPr id="7" name="TextBox 7"/>
          <p:cNvSpPr txBox="1"/>
          <p:nvPr/>
        </p:nvSpPr>
        <p:spPr>
          <a:xfrm>
            <a:off x="1726573" y="1695231"/>
            <a:ext cx="7804464" cy="2682645"/>
          </a:xfrm>
          <a:prstGeom prst="rect">
            <a:avLst/>
          </a:prstGeom>
        </p:spPr>
        <p:txBody>
          <a:bodyPr lIns="0" tIns="0" rIns="0" bIns="0" rtlCol="0" anchor="t">
            <a:spAutoFit/>
          </a:bodyPr>
          <a:lstStyle/>
          <a:p>
            <a:pPr algn="l">
              <a:lnSpc>
                <a:spcPts val="16276"/>
              </a:lnSpc>
            </a:pPr>
            <a:r>
              <a:rPr lang="en-US" sz="18084" spc="-669">
                <a:solidFill>
                  <a:srgbClr val="2D3621"/>
                </a:solidFill>
                <a:latin typeface="TAN Harmoni"/>
                <a:ea typeface="TAN Harmoni"/>
                <a:cs typeface="TAN Harmoni"/>
                <a:sym typeface="TAN Harmoni"/>
              </a:rPr>
              <a:t>LETTER TO</a:t>
            </a:r>
          </a:p>
        </p:txBody>
      </p:sp>
      <p:sp>
        <p:nvSpPr>
          <p:cNvPr id="8" name="TextBox 8"/>
          <p:cNvSpPr txBox="1"/>
          <p:nvPr/>
        </p:nvSpPr>
        <p:spPr>
          <a:xfrm>
            <a:off x="242198" y="7866851"/>
            <a:ext cx="10213315" cy="669657"/>
          </a:xfrm>
          <a:prstGeom prst="rect">
            <a:avLst/>
          </a:prstGeom>
        </p:spPr>
        <p:txBody>
          <a:bodyPr lIns="0" tIns="0" rIns="0" bIns="0" rtlCol="0" anchor="t">
            <a:spAutoFit/>
          </a:bodyPr>
          <a:lstStyle/>
          <a:p>
            <a:pPr algn="ctr">
              <a:lnSpc>
                <a:spcPts val="5494"/>
              </a:lnSpc>
            </a:pPr>
            <a:r>
              <a:rPr lang="en-US" sz="3924" spc="235">
                <a:solidFill>
                  <a:srgbClr val="2D3621"/>
                </a:solidFill>
                <a:latin typeface="Courier Prime"/>
                <a:ea typeface="Courier Prime"/>
                <a:cs typeface="Courier Prime"/>
                <a:sym typeface="Courier Prime"/>
              </a:rPr>
              <a:t>By Rene Estella Amper</a:t>
            </a:r>
          </a:p>
        </p:txBody>
      </p:sp>
      <p:sp>
        <p:nvSpPr>
          <p:cNvPr id="9" name="TextBox 9"/>
          <p:cNvSpPr txBox="1"/>
          <p:nvPr/>
        </p:nvSpPr>
        <p:spPr>
          <a:xfrm>
            <a:off x="1726573" y="6566240"/>
            <a:ext cx="7804464" cy="933950"/>
          </a:xfrm>
          <a:prstGeom prst="rect">
            <a:avLst/>
          </a:prstGeom>
        </p:spPr>
        <p:txBody>
          <a:bodyPr lIns="0" tIns="0" rIns="0" bIns="0" rtlCol="0" anchor="t">
            <a:spAutoFit/>
          </a:bodyPr>
          <a:lstStyle/>
          <a:p>
            <a:pPr algn="l">
              <a:lnSpc>
                <a:spcPts val="5641"/>
              </a:lnSpc>
            </a:pPr>
            <a:r>
              <a:rPr lang="en-US" sz="6268" spc="-231">
                <a:solidFill>
                  <a:srgbClr val="2D3621"/>
                </a:solidFill>
                <a:latin typeface="TAN Harmoni"/>
                <a:ea typeface="TAN Harmoni"/>
                <a:cs typeface="TAN Harmoni"/>
                <a:sym typeface="TAN Harmoni"/>
              </a:rPr>
              <a:t>U.S. CITIZEN, ALSO CALLED PETE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4787213" y="3189871"/>
            <a:ext cx="8972183" cy="2866431"/>
          </a:xfrm>
          <a:prstGeom prst="rect">
            <a:avLst/>
          </a:prstGeom>
        </p:spPr>
        <p:txBody>
          <a:bodyPr lIns="0" tIns="0" rIns="0" bIns="0" rtlCol="0" anchor="t">
            <a:spAutoFit/>
          </a:bodyPr>
          <a:lstStyle/>
          <a:p>
            <a:pPr algn="l">
              <a:lnSpc>
                <a:spcPts val="17487"/>
              </a:lnSpc>
            </a:pPr>
            <a:r>
              <a:rPr lang="en-US" sz="19430" spc="-718">
                <a:solidFill>
                  <a:srgbClr val="E8E3DB"/>
                </a:solidFill>
                <a:latin typeface="TAN Harmoni"/>
                <a:ea typeface="TAN Harmoni"/>
                <a:cs typeface="TAN Harmoni"/>
                <a:sym typeface="TAN Harmoni"/>
              </a:rPr>
              <a:t>FORMALISM</a:t>
            </a:r>
          </a:p>
        </p:txBody>
      </p:sp>
      <p:sp>
        <p:nvSpPr>
          <p:cNvPr id="5" name="TextBox 5"/>
          <p:cNvSpPr txBox="1"/>
          <p:nvPr/>
        </p:nvSpPr>
        <p:spPr>
          <a:xfrm>
            <a:off x="6146623" y="5339541"/>
            <a:ext cx="6253363" cy="2003307"/>
          </a:xfrm>
          <a:prstGeom prst="rect">
            <a:avLst/>
          </a:prstGeom>
        </p:spPr>
        <p:txBody>
          <a:bodyPr lIns="0" tIns="0" rIns="0" bIns="0" rtlCol="0" anchor="t">
            <a:spAutoFit/>
          </a:bodyPr>
          <a:lstStyle/>
          <a:p>
            <a:pPr algn="l">
              <a:lnSpc>
                <a:spcPts val="12187"/>
              </a:lnSpc>
            </a:pPr>
            <a:r>
              <a:rPr lang="en-US" sz="13542" spc="-501">
                <a:solidFill>
                  <a:srgbClr val="E8E3DB"/>
                </a:solidFill>
                <a:latin typeface="TAN Harmoni"/>
                <a:ea typeface="TAN Harmoni"/>
                <a:cs typeface="TAN Harmoni"/>
                <a:sym typeface="TAN Harmoni"/>
              </a:rPr>
              <a:t>APPROACH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0744200" cy="10287000"/>
            <a:chOff x="0" y="0"/>
            <a:chExt cx="2072712" cy="2709333"/>
          </a:xfrm>
        </p:grpSpPr>
        <p:sp>
          <p:nvSpPr>
            <p:cNvPr id="3" name="Freeform 3"/>
            <p:cNvSpPr/>
            <p:nvPr/>
          </p:nvSpPr>
          <p:spPr>
            <a:xfrm>
              <a:off x="0" y="0"/>
              <a:ext cx="2072712" cy="2709333"/>
            </a:xfrm>
            <a:custGeom>
              <a:avLst/>
              <a:gdLst/>
              <a:ahLst/>
              <a:cxnLst/>
              <a:rect l="l" t="t" r="r" b="b"/>
              <a:pathLst>
                <a:path w="2072712" h="2709333">
                  <a:moveTo>
                    <a:pt x="0" y="0"/>
                  </a:moveTo>
                  <a:lnTo>
                    <a:pt x="2072712" y="0"/>
                  </a:lnTo>
                  <a:lnTo>
                    <a:pt x="2072712" y="2709333"/>
                  </a:lnTo>
                  <a:lnTo>
                    <a:pt x="0" y="2709333"/>
                  </a:lnTo>
                  <a:close/>
                </a:path>
              </a:pathLst>
            </a:custGeom>
            <a:solidFill>
              <a:srgbClr val="E8E3DB"/>
            </a:solidFill>
          </p:spPr>
        </p:sp>
        <p:sp>
          <p:nvSpPr>
            <p:cNvPr id="4" name="TextBox 4"/>
            <p:cNvSpPr txBox="1"/>
            <p:nvPr/>
          </p:nvSpPr>
          <p:spPr>
            <a:xfrm>
              <a:off x="0" y="-38100"/>
              <a:ext cx="2072712" cy="2747433"/>
            </a:xfrm>
            <a:prstGeom prst="rect">
              <a:avLst/>
            </a:prstGeom>
          </p:spPr>
          <p:txBody>
            <a:bodyPr lIns="50800" tIns="50800" rIns="50800" bIns="50800" rtlCol="0" anchor="ctr"/>
            <a:lstStyle/>
            <a:p>
              <a:pPr algn="ctr">
                <a:lnSpc>
                  <a:spcPts val="2520"/>
                </a:lnSpc>
              </a:pPr>
              <a:endParaRPr/>
            </a:p>
          </p:txBody>
        </p:sp>
      </p:grpSp>
      <p:sp>
        <p:nvSpPr>
          <p:cNvPr id="5" name="TextBox 5"/>
          <p:cNvSpPr txBox="1"/>
          <p:nvPr/>
        </p:nvSpPr>
        <p:spPr>
          <a:xfrm>
            <a:off x="11201400" y="5600700"/>
            <a:ext cx="6678910" cy="2000548"/>
          </a:xfrm>
          <a:prstGeom prst="rect">
            <a:avLst/>
          </a:prstGeom>
        </p:spPr>
        <p:txBody>
          <a:bodyPr wrap="square" lIns="0" tIns="0" rIns="0" bIns="0" rtlCol="0" anchor="t">
            <a:spAutoFit/>
          </a:bodyPr>
          <a:lstStyle/>
          <a:p>
            <a:pPr algn="l">
              <a:lnSpc>
                <a:spcPts val="3903"/>
              </a:lnSpc>
            </a:pPr>
            <a:r>
              <a:rPr lang="en-US" sz="3600" u="sng" dirty="0">
                <a:solidFill>
                  <a:schemeClr val="accent2"/>
                </a:solidFill>
                <a:highlight>
                  <a:srgbClr val="C0C0C0"/>
                </a:highlight>
                <a:latin typeface="Courier Prime"/>
                <a:ea typeface="Courier Prime"/>
                <a:cs typeface="Courier Prime"/>
                <a:sym typeface="Courier Prime"/>
              </a:rPr>
              <a:t>Bulldozer</a:t>
            </a:r>
            <a:r>
              <a:rPr lang="en-US" sz="3600" dirty="0">
                <a:solidFill>
                  <a:srgbClr val="E8E3DB"/>
                </a:solidFill>
                <a:latin typeface="Courier Prime"/>
                <a:ea typeface="Courier Prime"/>
                <a:cs typeface="Courier Prime"/>
                <a:sym typeface="Courier Prime"/>
              </a:rPr>
              <a:t> - Represents progress or development destroying personal and natural history.</a:t>
            </a:r>
          </a:p>
        </p:txBody>
      </p:sp>
      <p:sp>
        <p:nvSpPr>
          <p:cNvPr id="6" name="TextBox 6"/>
          <p:cNvSpPr txBox="1"/>
          <p:nvPr/>
        </p:nvSpPr>
        <p:spPr>
          <a:xfrm>
            <a:off x="11201400" y="1485900"/>
            <a:ext cx="6323803" cy="3014287"/>
          </a:xfrm>
          <a:prstGeom prst="rect">
            <a:avLst/>
          </a:prstGeom>
        </p:spPr>
        <p:txBody>
          <a:bodyPr wrap="square" lIns="0" tIns="0" rIns="0" bIns="0" rtlCol="0" anchor="t">
            <a:spAutoFit/>
          </a:bodyPr>
          <a:lstStyle/>
          <a:p>
            <a:pPr algn="l">
              <a:lnSpc>
                <a:spcPts val="3919"/>
              </a:lnSpc>
            </a:pPr>
            <a:r>
              <a:rPr lang="en-US" sz="3600" u="sng" dirty="0">
                <a:solidFill>
                  <a:schemeClr val="accent2"/>
                </a:solidFill>
                <a:highlight>
                  <a:srgbClr val="C0C0C0"/>
                </a:highlight>
                <a:latin typeface="Courier Prime"/>
                <a:ea typeface="Courier Prime"/>
                <a:cs typeface="Courier Prime"/>
                <a:sym typeface="Courier Prime"/>
              </a:rPr>
              <a:t>Grave</a:t>
            </a:r>
            <a:r>
              <a:rPr lang="en-US" sz="3600" dirty="0">
                <a:solidFill>
                  <a:srgbClr val="E8E3DB"/>
                </a:solidFill>
                <a:latin typeface="Courier Prime"/>
                <a:ea typeface="Courier Prime"/>
                <a:cs typeface="Courier Prime"/>
                <a:sym typeface="Courier Prime"/>
              </a:rPr>
              <a:t> - Symbolizes memory, mourning, and permanence the fact it’s lost shows impermanence and change over time.</a:t>
            </a:r>
          </a:p>
        </p:txBody>
      </p:sp>
      <p:sp>
        <p:nvSpPr>
          <p:cNvPr id="7" name="TextBox 7"/>
          <p:cNvSpPr txBox="1"/>
          <p:nvPr/>
        </p:nvSpPr>
        <p:spPr>
          <a:xfrm>
            <a:off x="762797" y="957738"/>
            <a:ext cx="9067800" cy="8371523"/>
          </a:xfrm>
          <a:prstGeom prst="rect">
            <a:avLst/>
          </a:prstGeom>
        </p:spPr>
        <p:txBody>
          <a:bodyPr wrap="square" lIns="0" tIns="0" rIns="0" bIns="0" rtlCol="0" anchor="t">
            <a:spAutoFit/>
          </a:bodyPr>
          <a:lstStyle/>
          <a:p>
            <a:pPr algn="l"/>
            <a:r>
              <a:rPr lang="en-US" sz="3200" dirty="0">
                <a:solidFill>
                  <a:srgbClr val="2D3621"/>
                </a:solidFill>
                <a:latin typeface="Courier Prime"/>
                <a:ea typeface="Courier Prime"/>
                <a:cs typeface="Courier Prime"/>
                <a:sym typeface="Courier Prime"/>
              </a:rPr>
              <a:t>Pete, old friend, there isn't really much change in our hometown since you left.</a:t>
            </a:r>
          </a:p>
          <a:p>
            <a:pPr algn="l"/>
            <a:endParaRPr lang="en-US" sz="3200" dirty="0">
              <a:solidFill>
                <a:srgbClr val="2D3621"/>
              </a:solidFill>
              <a:latin typeface="Courier Prime"/>
              <a:ea typeface="Courier Prime"/>
              <a:cs typeface="Courier Prime"/>
              <a:sym typeface="Courier Prime"/>
            </a:endParaRPr>
          </a:p>
          <a:p>
            <a:pPr algn="l"/>
            <a:r>
              <a:rPr lang="en-US" sz="3200" dirty="0">
                <a:solidFill>
                  <a:srgbClr val="2D3621"/>
                </a:solidFill>
                <a:latin typeface="Courier Prime"/>
                <a:ea typeface="Courier Prime"/>
                <a:cs typeface="Courier Prime"/>
                <a:sym typeface="Courier Prime"/>
              </a:rPr>
              <a:t>This morning I couldn't find anymore </a:t>
            </a:r>
            <a:r>
              <a:rPr lang="en-US" sz="3200" dirty="0">
                <a:solidFill>
                  <a:srgbClr val="BC1010"/>
                </a:solidFill>
                <a:latin typeface="Courier Prime"/>
                <a:ea typeface="Courier Prime"/>
                <a:cs typeface="Courier Prime"/>
                <a:sym typeface="Courier Prime"/>
              </a:rPr>
              <a:t>the grave of Simeona</a:t>
            </a:r>
            <a:r>
              <a:rPr lang="en-US" sz="3200" dirty="0">
                <a:solidFill>
                  <a:srgbClr val="2D3621"/>
                </a:solidFill>
                <a:latin typeface="Courier Prime"/>
                <a:ea typeface="Courier Prime"/>
                <a:cs typeface="Courier Prime"/>
                <a:sym typeface="Courier Prime"/>
              </a:rPr>
              <a:t>, the cat we buried at the foot of Miguel's mango tree, when we were in grade four, after she was hit by a truck while crossing the street. </a:t>
            </a:r>
            <a:r>
              <a:rPr lang="en-US" sz="3200" dirty="0">
                <a:solidFill>
                  <a:srgbClr val="BC1010"/>
                </a:solidFill>
                <a:latin typeface="Courier Prime"/>
                <a:ea typeface="Courier Prime"/>
                <a:cs typeface="Courier Prime"/>
                <a:sym typeface="Courier Prime"/>
              </a:rPr>
              <a:t>The bulldozer has messed it up</a:t>
            </a:r>
            <a:r>
              <a:rPr lang="en-US" sz="3200" dirty="0">
                <a:solidFill>
                  <a:srgbClr val="2D3621"/>
                </a:solidFill>
                <a:latin typeface="Courier Prime"/>
                <a:ea typeface="Courier Prime"/>
                <a:cs typeface="Courier Prime"/>
                <a:sym typeface="Courier Prime"/>
              </a:rPr>
              <a:t> while making the feeder road into the mountains </a:t>
            </a:r>
            <a:r>
              <a:rPr lang="en-US" sz="3200" dirty="0">
                <a:solidFill>
                  <a:srgbClr val="BC1010"/>
                </a:solidFill>
                <a:latin typeface="Courier Prime"/>
                <a:ea typeface="Courier Prime"/>
                <a:cs typeface="Courier Prime"/>
                <a:sym typeface="Courier Prime"/>
              </a:rPr>
              <a:t>to reach the hearts of the farmers</a:t>
            </a:r>
            <a:r>
              <a:rPr lang="en-US" sz="3200" dirty="0">
                <a:solidFill>
                  <a:srgbClr val="2D3621"/>
                </a:solidFill>
                <a:latin typeface="Courier Prime"/>
                <a:ea typeface="Courier Prime"/>
                <a:cs typeface="Courier Prime"/>
                <a:sym typeface="Courier Prime"/>
              </a:rPr>
              <a:t>. The farmers come down every Sunday to sell their agony and their sweat for a few pesos, lose in the cockpit or get drunk on the way home.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0363200" cy="10287000"/>
            <a:chOff x="0" y="0"/>
            <a:chExt cx="2296935" cy="2709333"/>
          </a:xfrm>
        </p:grpSpPr>
        <p:sp>
          <p:nvSpPr>
            <p:cNvPr id="3" name="Freeform 3"/>
            <p:cNvSpPr/>
            <p:nvPr/>
          </p:nvSpPr>
          <p:spPr>
            <a:xfrm>
              <a:off x="0" y="0"/>
              <a:ext cx="2296935" cy="2709333"/>
            </a:xfrm>
            <a:custGeom>
              <a:avLst/>
              <a:gdLst/>
              <a:ahLst/>
              <a:cxnLst/>
              <a:rect l="l" t="t" r="r" b="b"/>
              <a:pathLst>
                <a:path w="2296935" h="2709333">
                  <a:moveTo>
                    <a:pt x="0" y="0"/>
                  </a:moveTo>
                  <a:lnTo>
                    <a:pt x="2296935" y="0"/>
                  </a:lnTo>
                  <a:lnTo>
                    <a:pt x="2296935" y="2709333"/>
                  </a:lnTo>
                  <a:lnTo>
                    <a:pt x="0" y="2709333"/>
                  </a:lnTo>
                  <a:close/>
                </a:path>
              </a:pathLst>
            </a:custGeom>
            <a:solidFill>
              <a:srgbClr val="E8E3DB"/>
            </a:solidFill>
          </p:spPr>
        </p:sp>
        <p:sp>
          <p:nvSpPr>
            <p:cNvPr id="4" name="TextBox 4"/>
            <p:cNvSpPr txBox="1"/>
            <p:nvPr/>
          </p:nvSpPr>
          <p:spPr>
            <a:xfrm>
              <a:off x="0" y="-38100"/>
              <a:ext cx="2296935" cy="2747433"/>
            </a:xfrm>
            <a:prstGeom prst="rect">
              <a:avLst/>
            </a:prstGeom>
          </p:spPr>
          <p:txBody>
            <a:bodyPr lIns="50800" tIns="50800" rIns="50800" bIns="50800" rtlCol="0" anchor="ctr"/>
            <a:lstStyle/>
            <a:p>
              <a:pPr algn="ctr">
                <a:lnSpc>
                  <a:spcPts val="2520"/>
                </a:lnSpc>
              </a:pPr>
              <a:endParaRPr/>
            </a:p>
          </p:txBody>
        </p:sp>
      </p:grpSp>
      <p:sp>
        <p:nvSpPr>
          <p:cNvPr id="5" name="TextBox 5"/>
          <p:cNvSpPr txBox="1"/>
          <p:nvPr/>
        </p:nvSpPr>
        <p:spPr>
          <a:xfrm>
            <a:off x="11277600" y="2705100"/>
            <a:ext cx="6718852" cy="4155625"/>
          </a:xfrm>
          <a:prstGeom prst="rect">
            <a:avLst/>
          </a:prstGeom>
        </p:spPr>
        <p:txBody>
          <a:bodyPr wrap="square" lIns="0" tIns="0" rIns="0" bIns="0" rtlCol="0" anchor="t">
            <a:spAutoFit/>
          </a:bodyPr>
          <a:lstStyle/>
          <a:p>
            <a:pPr algn="l">
              <a:lnSpc>
                <a:spcPts val="3919"/>
              </a:lnSpc>
            </a:pPr>
            <a:r>
              <a:rPr lang="en-US" sz="3600" b="1" dirty="0">
                <a:solidFill>
                  <a:schemeClr val="accent2"/>
                </a:solidFill>
                <a:latin typeface="Courier Prime"/>
                <a:ea typeface="Courier Prime"/>
                <a:cs typeface="Courier Prime"/>
                <a:sym typeface="Courier Prime"/>
              </a:rPr>
              <a:t>Imagery</a:t>
            </a:r>
          </a:p>
          <a:p>
            <a:pPr algn="l">
              <a:lnSpc>
                <a:spcPts val="1120"/>
              </a:lnSpc>
            </a:pPr>
            <a:endParaRPr lang="en-US" sz="3600" dirty="0">
              <a:solidFill>
                <a:srgbClr val="E8E3DB"/>
              </a:solidFill>
              <a:latin typeface="Courier Prime"/>
              <a:ea typeface="Courier Prime"/>
              <a:cs typeface="Courier Prime"/>
              <a:sym typeface="Courier Prime"/>
            </a:endParaRPr>
          </a:p>
          <a:p>
            <a:pPr algn="l">
              <a:lnSpc>
                <a:spcPts val="3919"/>
              </a:lnSpc>
            </a:pPr>
            <a:r>
              <a:rPr lang="en-US" sz="3600" dirty="0">
                <a:solidFill>
                  <a:srgbClr val="E8E3DB"/>
                </a:solidFill>
                <a:latin typeface="Courier Prime"/>
                <a:ea typeface="Courier Prime"/>
                <a:cs typeface="Courier Prime"/>
                <a:sym typeface="Courier Prime"/>
              </a:rPr>
              <a:t>The bridge stretches across the “gray river” cold and metallic, standing in contrast to the natural surroundings.</a:t>
            </a:r>
          </a:p>
          <a:p>
            <a:pPr algn="l">
              <a:lnSpc>
                <a:spcPts val="3919"/>
              </a:lnSpc>
            </a:pPr>
            <a:endParaRPr lang="en-US" sz="3600" dirty="0">
              <a:solidFill>
                <a:srgbClr val="E8E3DB"/>
              </a:solidFill>
              <a:latin typeface="Courier Prime"/>
              <a:ea typeface="Courier Prime"/>
              <a:cs typeface="Courier Prime"/>
              <a:sym typeface="Courier Prime"/>
            </a:endParaRPr>
          </a:p>
        </p:txBody>
      </p:sp>
      <p:sp>
        <p:nvSpPr>
          <p:cNvPr id="6" name="TextBox 6"/>
          <p:cNvSpPr txBox="1"/>
          <p:nvPr/>
        </p:nvSpPr>
        <p:spPr>
          <a:xfrm>
            <a:off x="609600" y="1485900"/>
            <a:ext cx="9385974" cy="7771358"/>
          </a:xfrm>
          <a:prstGeom prst="rect">
            <a:avLst/>
          </a:prstGeom>
        </p:spPr>
        <p:txBody>
          <a:bodyPr wrap="square" lIns="0" tIns="0" rIns="0" bIns="0" rtlCol="0" anchor="t">
            <a:spAutoFit/>
          </a:bodyPr>
          <a:lstStyle/>
          <a:p>
            <a:pPr algn="l">
              <a:lnSpc>
                <a:spcPts val="3379"/>
              </a:lnSpc>
            </a:pPr>
            <a:r>
              <a:rPr lang="en-US" sz="2800" spc="-213" dirty="0">
                <a:solidFill>
                  <a:srgbClr val="2D3621"/>
                </a:solidFill>
                <a:latin typeface="Courier Prime"/>
                <a:ea typeface="Courier Prime"/>
                <a:cs typeface="Courier Prime"/>
                <a:sym typeface="Courier Prime"/>
              </a:rPr>
              <a:t>A steel bridge named after the </a:t>
            </a:r>
            <a:r>
              <a:rPr lang="en-US" sz="2800" spc="-213" dirty="0">
                <a:solidFill>
                  <a:srgbClr val="BC1010"/>
                </a:solidFill>
                <a:latin typeface="Courier Prime"/>
                <a:ea typeface="Courier Prime"/>
                <a:cs typeface="Courier Prime"/>
                <a:sym typeface="Courier Prime"/>
              </a:rPr>
              <a:t>congressman's wife</a:t>
            </a:r>
          </a:p>
          <a:p>
            <a:pPr algn="l">
              <a:lnSpc>
                <a:spcPts val="3379"/>
              </a:lnSpc>
            </a:pPr>
            <a:r>
              <a:rPr lang="en-US" sz="2800" spc="-213" dirty="0">
                <a:solidFill>
                  <a:srgbClr val="2D3621"/>
                </a:solidFill>
                <a:latin typeface="Courier Prime"/>
                <a:ea typeface="Courier Prime"/>
                <a:cs typeface="Courier Prime"/>
                <a:sym typeface="Courier Prime"/>
              </a:rPr>
              <a:t>now spans the </a:t>
            </a:r>
            <a:r>
              <a:rPr lang="en-US" sz="2800" spc="-213" dirty="0">
                <a:solidFill>
                  <a:srgbClr val="BC1010"/>
                </a:solidFill>
                <a:latin typeface="Courier Prime"/>
                <a:ea typeface="Courier Prime"/>
                <a:cs typeface="Courier Prime"/>
                <a:sym typeface="Courier Prime"/>
              </a:rPr>
              <a:t>gray river</a:t>
            </a:r>
            <a:r>
              <a:rPr lang="en-US" sz="2800" spc="-213" dirty="0">
                <a:solidFill>
                  <a:srgbClr val="2D3621"/>
                </a:solidFill>
                <a:latin typeface="Courier Prime"/>
                <a:ea typeface="Courier Prime"/>
                <a:cs typeface="Courier Prime"/>
                <a:sym typeface="Courier Prime"/>
              </a:rPr>
              <a:t> where </a:t>
            </a:r>
            <a:r>
              <a:rPr lang="en-US" sz="2800" spc="-213" dirty="0" err="1">
                <a:solidFill>
                  <a:srgbClr val="2D3621"/>
                </a:solidFill>
                <a:latin typeface="Courier Prime"/>
                <a:ea typeface="Courier Prime"/>
                <a:cs typeface="Courier Prime"/>
                <a:sym typeface="Courier Prime"/>
              </a:rPr>
              <a:t>Tasyo</a:t>
            </a:r>
            <a:r>
              <a:rPr lang="en-US" sz="2800" spc="-213" dirty="0">
                <a:solidFill>
                  <a:srgbClr val="2D3621"/>
                </a:solidFill>
                <a:latin typeface="Courier Prime"/>
                <a:ea typeface="Courier Prime"/>
                <a:cs typeface="Courier Prime"/>
                <a:sym typeface="Courier Prime"/>
              </a:rPr>
              <a:t>, the old</a:t>
            </a:r>
          </a:p>
          <a:p>
            <a:pPr algn="l">
              <a:lnSpc>
                <a:spcPts val="3379"/>
              </a:lnSpc>
            </a:pPr>
            <a:r>
              <a:rPr lang="en-US" sz="2800" spc="-213" dirty="0">
                <a:solidFill>
                  <a:srgbClr val="2D3621"/>
                </a:solidFill>
                <a:latin typeface="Courier Prime"/>
                <a:ea typeface="Courier Prime"/>
                <a:cs typeface="Courier Prime"/>
                <a:sym typeface="Courier Prime"/>
              </a:rPr>
              <a:t>goat, had split the skin of our young lizards</a:t>
            </a:r>
          </a:p>
          <a:p>
            <a:pPr algn="l">
              <a:lnSpc>
                <a:spcPts val="3379"/>
              </a:lnSpc>
            </a:pPr>
            <a:r>
              <a:rPr lang="en-US" sz="2800" spc="-213" dirty="0">
                <a:solidFill>
                  <a:srgbClr val="2D3621"/>
                </a:solidFill>
                <a:latin typeface="Courier Prime"/>
                <a:ea typeface="Courier Prime"/>
                <a:cs typeface="Courier Prime"/>
                <a:sym typeface="Courier Prime"/>
              </a:rPr>
              <a:t>to make us a man many years ago.</a:t>
            </a:r>
          </a:p>
          <a:p>
            <a:pPr algn="l">
              <a:lnSpc>
                <a:spcPts val="2079"/>
              </a:lnSpc>
            </a:pPr>
            <a:endParaRPr lang="en-US" sz="2800" spc="-213" dirty="0">
              <a:solidFill>
                <a:srgbClr val="2D3621"/>
              </a:solidFill>
              <a:latin typeface="Courier Prime"/>
              <a:ea typeface="Courier Prime"/>
              <a:cs typeface="Courier Prime"/>
              <a:sym typeface="Courier Prime"/>
            </a:endParaRPr>
          </a:p>
          <a:p>
            <a:pPr algn="l">
              <a:lnSpc>
                <a:spcPts val="2079"/>
              </a:lnSpc>
            </a:pPr>
            <a:endParaRPr lang="en-US" sz="2800" spc="-213" dirty="0">
              <a:solidFill>
                <a:srgbClr val="2D3621"/>
              </a:solidFill>
              <a:latin typeface="Courier Prime"/>
              <a:ea typeface="Courier Prime"/>
              <a:cs typeface="Courier Prime"/>
              <a:sym typeface="Courier Prime"/>
            </a:endParaRPr>
          </a:p>
          <a:p>
            <a:pPr algn="l">
              <a:lnSpc>
                <a:spcPts val="3379"/>
              </a:lnSpc>
            </a:pPr>
            <a:r>
              <a:rPr lang="en-US" sz="2800" spc="-213" dirty="0">
                <a:solidFill>
                  <a:srgbClr val="2D3621"/>
                </a:solidFill>
                <a:latin typeface="Courier Prime"/>
                <a:ea typeface="Courier Prime"/>
                <a:cs typeface="Courier Prime"/>
                <a:sym typeface="Courier Prime"/>
              </a:rPr>
              <a:t>The long blue hills where we</a:t>
            </a:r>
          </a:p>
          <a:p>
            <a:pPr algn="l">
              <a:lnSpc>
                <a:spcPts val="3379"/>
              </a:lnSpc>
            </a:pPr>
            <a:r>
              <a:rPr lang="en-US" sz="2800" spc="-213" dirty="0">
                <a:solidFill>
                  <a:srgbClr val="2D3621"/>
                </a:solidFill>
                <a:latin typeface="Courier Prime"/>
                <a:ea typeface="Courier Prime"/>
                <a:cs typeface="Courier Prime"/>
                <a:sym typeface="Courier Prime"/>
              </a:rPr>
              <a:t>used to shoot birds with </a:t>
            </a:r>
            <a:r>
              <a:rPr lang="en-US" sz="2800" spc="-213" dirty="0">
                <a:solidFill>
                  <a:srgbClr val="BC1010"/>
                </a:solidFill>
                <a:latin typeface="Courier Prime"/>
                <a:ea typeface="Courier Prime"/>
                <a:cs typeface="Courier Prime"/>
                <a:sym typeface="Courier Prime"/>
              </a:rPr>
              <a:t>slingshot or spend</a:t>
            </a:r>
          </a:p>
          <a:p>
            <a:pPr algn="l">
              <a:lnSpc>
                <a:spcPts val="3379"/>
              </a:lnSpc>
            </a:pPr>
            <a:r>
              <a:rPr lang="en-US" sz="2800" spc="-213" dirty="0">
                <a:solidFill>
                  <a:srgbClr val="BC1010"/>
                </a:solidFill>
                <a:latin typeface="Courier Prime"/>
                <a:ea typeface="Courier Prime"/>
                <a:cs typeface="Courier Prime"/>
                <a:sym typeface="Courier Prime"/>
              </a:rPr>
              <a:t>the summer afternoons we loved so much doing</a:t>
            </a:r>
          </a:p>
          <a:p>
            <a:pPr algn="l">
              <a:lnSpc>
                <a:spcPts val="3379"/>
              </a:lnSpc>
            </a:pPr>
            <a:r>
              <a:rPr lang="en-US" sz="2800" spc="-213" dirty="0">
                <a:solidFill>
                  <a:srgbClr val="BC1010"/>
                </a:solidFill>
                <a:latin typeface="Courier Prime"/>
                <a:ea typeface="Courier Prime"/>
                <a:cs typeface="Courier Prime"/>
                <a:sym typeface="Courier Prime"/>
              </a:rPr>
              <a:t>nothing in the tall grass have been bought</a:t>
            </a:r>
          </a:p>
          <a:p>
            <a:pPr algn="l">
              <a:lnSpc>
                <a:spcPts val="3379"/>
              </a:lnSpc>
            </a:pPr>
            <a:r>
              <a:rPr lang="en-US" sz="2800" spc="-213" dirty="0">
                <a:solidFill>
                  <a:srgbClr val="BC1010"/>
                </a:solidFill>
                <a:latin typeface="Courier Prime"/>
                <a:ea typeface="Courier Prime"/>
                <a:cs typeface="Courier Prime"/>
                <a:sym typeface="Courier Prime"/>
              </a:rPr>
              <a:t>by the mayor's son. </a:t>
            </a:r>
            <a:r>
              <a:rPr lang="en-US" sz="2800" spc="-213" dirty="0">
                <a:solidFill>
                  <a:srgbClr val="2D3621"/>
                </a:solidFill>
                <a:latin typeface="Courier Prime"/>
                <a:ea typeface="Courier Prime"/>
                <a:cs typeface="Courier Prime"/>
                <a:sym typeface="Courier Prime"/>
              </a:rPr>
              <a:t>Now there's a barbed wire</a:t>
            </a:r>
          </a:p>
          <a:p>
            <a:pPr algn="l">
              <a:lnSpc>
                <a:spcPts val="3379"/>
              </a:lnSpc>
            </a:pPr>
            <a:r>
              <a:rPr lang="en-US" sz="2800" spc="-213" dirty="0">
                <a:solidFill>
                  <a:srgbClr val="2D3621"/>
                </a:solidFill>
                <a:latin typeface="Courier Prime"/>
                <a:ea typeface="Courier Prime"/>
                <a:cs typeface="Courier Prime"/>
                <a:sym typeface="Courier Prime"/>
              </a:rPr>
              <a:t>fence about them; the birds have gone away.</a:t>
            </a:r>
          </a:p>
          <a:p>
            <a:pPr algn="l">
              <a:lnSpc>
                <a:spcPts val="2729"/>
              </a:lnSpc>
            </a:pPr>
            <a:endParaRPr lang="en-US" sz="2800" spc="-213" dirty="0">
              <a:solidFill>
                <a:srgbClr val="2D3621"/>
              </a:solidFill>
              <a:latin typeface="Courier Prime"/>
              <a:ea typeface="Courier Prime"/>
              <a:cs typeface="Courier Prime"/>
              <a:sym typeface="Courier Prime"/>
            </a:endParaRPr>
          </a:p>
          <a:p>
            <a:pPr algn="l">
              <a:lnSpc>
                <a:spcPts val="2729"/>
              </a:lnSpc>
            </a:pPr>
            <a:endParaRPr lang="en-US" sz="2800" spc="-213" dirty="0">
              <a:solidFill>
                <a:srgbClr val="2D3621"/>
              </a:solidFill>
              <a:latin typeface="Courier Prime"/>
              <a:ea typeface="Courier Prime"/>
              <a:cs typeface="Courier Prime"/>
              <a:sym typeface="Courier Prime"/>
            </a:endParaRPr>
          </a:p>
          <a:p>
            <a:pPr algn="l">
              <a:lnSpc>
                <a:spcPts val="3379"/>
              </a:lnSpc>
            </a:pPr>
            <a:r>
              <a:rPr lang="en-US" sz="2800" spc="-213" dirty="0">
                <a:solidFill>
                  <a:srgbClr val="2D3621"/>
                </a:solidFill>
                <a:latin typeface="Courier Prime"/>
                <a:ea typeface="Courier Prime"/>
                <a:cs typeface="Courier Prime"/>
                <a:sym typeface="Courier Prime"/>
              </a:rPr>
              <a:t>The </a:t>
            </a:r>
            <a:r>
              <a:rPr lang="en-US" sz="2800" spc="-213" dirty="0">
                <a:solidFill>
                  <a:srgbClr val="BC1010"/>
                </a:solidFill>
                <a:latin typeface="Courier Prime"/>
                <a:ea typeface="Courier Prime"/>
                <a:cs typeface="Courier Prime"/>
                <a:sym typeface="Courier Prime"/>
              </a:rPr>
              <a:t>mayor owns a big sugar plantation</a:t>
            </a:r>
            <a:r>
              <a:rPr lang="en-US" sz="2800" spc="-213" dirty="0">
                <a:solidFill>
                  <a:srgbClr val="2D3621"/>
                </a:solidFill>
                <a:latin typeface="Courier Prime"/>
                <a:ea typeface="Courier Prime"/>
                <a:cs typeface="Courier Prime"/>
                <a:sym typeface="Courier Prime"/>
              </a:rPr>
              <a:t>, three</a:t>
            </a:r>
          </a:p>
          <a:p>
            <a:pPr algn="l">
              <a:lnSpc>
                <a:spcPts val="3379"/>
              </a:lnSpc>
            </a:pPr>
            <a:r>
              <a:rPr lang="en-US" sz="2800" spc="-213" dirty="0">
                <a:solidFill>
                  <a:srgbClr val="2D3621"/>
                </a:solidFill>
                <a:latin typeface="Courier Prime"/>
                <a:ea typeface="Courier Prime"/>
                <a:cs typeface="Courier Prime"/>
                <a:sym typeface="Courier Prime"/>
              </a:rPr>
              <a:t>new cars, and a mansion with the gate overhung</a:t>
            </a:r>
          </a:p>
          <a:p>
            <a:pPr algn="l">
              <a:lnSpc>
                <a:spcPts val="3379"/>
              </a:lnSpc>
            </a:pPr>
            <a:r>
              <a:rPr lang="en-US" sz="2800" spc="-213" dirty="0">
                <a:solidFill>
                  <a:srgbClr val="2D3621"/>
                </a:solidFill>
                <a:latin typeface="Courier Prime"/>
                <a:ea typeface="Courier Prime"/>
                <a:cs typeface="Courier Prime"/>
                <a:sym typeface="Courier Prime"/>
              </a:rPr>
              <a:t>with sampaguita. Inside the gate</a:t>
            </a:r>
          </a:p>
          <a:p>
            <a:pPr algn="l">
              <a:lnSpc>
                <a:spcPts val="3379"/>
              </a:lnSpc>
            </a:pPr>
            <a:r>
              <a:rPr lang="en-US" sz="2800" spc="-213" dirty="0">
                <a:solidFill>
                  <a:srgbClr val="2D3621"/>
                </a:solidFill>
                <a:latin typeface="Courier Prime"/>
                <a:ea typeface="Courier Prime"/>
                <a:cs typeface="Courier Prime"/>
                <a:sym typeface="Courier Prime"/>
              </a:rPr>
              <a:t>are guys who carry a rifle and a pistol.</a:t>
            </a:r>
          </a:p>
          <a:p>
            <a:pPr algn="l">
              <a:lnSpc>
                <a:spcPts val="3379"/>
              </a:lnSpc>
            </a:pPr>
            <a:endParaRPr lang="en-US" sz="2800" spc="-213" dirty="0">
              <a:solidFill>
                <a:srgbClr val="2D3621"/>
              </a:solidFill>
              <a:latin typeface="Courier Prime"/>
              <a:ea typeface="Courier Prime"/>
              <a:cs typeface="Courier Prime"/>
              <a:sym typeface="Courier Prim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a:extLst>
            <a:ext uri="{FF2B5EF4-FFF2-40B4-BE49-F238E27FC236}">
              <a16:creationId xmlns:a16="http://schemas.microsoft.com/office/drawing/2014/main" id="{76BCAB56-F063-BCAE-285A-074645F8DDE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32D16D4-183F-4E7E-B08D-4F1B007D692E}"/>
              </a:ext>
            </a:extLst>
          </p:cNvPr>
          <p:cNvGrpSpPr/>
          <p:nvPr/>
        </p:nvGrpSpPr>
        <p:grpSpPr>
          <a:xfrm>
            <a:off x="0" y="0"/>
            <a:ext cx="10363200" cy="10287000"/>
            <a:chOff x="0" y="0"/>
            <a:chExt cx="2296935" cy="2709333"/>
          </a:xfrm>
        </p:grpSpPr>
        <p:sp>
          <p:nvSpPr>
            <p:cNvPr id="3" name="Freeform 3">
              <a:extLst>
                <a:ext uri="{FF2B5EF4-FFF2-40B4-BE49-F238E27FC236}">
                  <a16:creationId xmlns:a16="http://schemas.microsoft.com/office/drawing/2014/main" id="{B33A9817-692F-A6D1-1402-2F9E7C21931D}"/>
                </a:ext>
              </a:extLst>
            </p:cNvPr>
            <p:cNvSpPr/>
            <p:nvPr/>
          </p:nvSpPr>
          <p:spPr>
            <a:xfrm>
              <a:off x="0" y="0"/>
              <a:ext cx="2296935" cy="2709333"/>
            </a:xfrm>
            <a:custGeom>
              <a:avLst/>
              <a:gdLst/>
              <a:ahLst/>
              <a:cxnLst/>
              <a:rect l="l" t="t" r="r" b="b"/>
              <a:pathLst>
                <a:path w="2296935" h="2709333">
                  <a:moveTo>
                    <a:pt x="0" y="0"/>
                  </a:moveTo>
                  <a:lnTo>
                    <a:pt x="2296935" y="0"/>
                  </a:lnTo>
                  <a:lnTo>
                    <a:pt x="2296935" y="2709333"/>
                  </a:lnTo>
                  <a:lnTo>
                    <a:pt x="0" y="2709333"/>
                  </a:lnTo>
                  <a:close/>
                </a:path>
              </a:pathLst>
            </a:custGeom>
            <a:solidFill>
              <a:srgbClr val="E8E3DB"/>
            </a:solidFill>
          </p:spPr>
        </p:sp>
        <p:sp>
          <p:nvSpPr>
            <p:cNvPr id="4" name="TextBox 4">
              <a:extLst>
                <a:ext uri="{FF2B5EF4-FFF2-40B4-BE49-F238E27FC236}">
                  <a16:creationId xmlns:a16="http://schemas.microsoft.com/office/drawing/2014/main" id="{E4AE18E1-2688-E170-CB31-52BF356A325B}"/>
                </a:ext>
              </a:extLst>
            </p:cNvPr>
            <p:cNvSpPr txBox="1"/>
            <p:nvPr/>
          </p:nvSpPr>
          <p:spPr>
            <a:xfrm>
              <a:off x="0" y="-38100"/>
              <a:ext cx="2296935" cy="2747433"/>
            </a:xfrm>
            <a:prstGeom prst="rect">
              <a:avLst/>
            </a:prstGeom>
          </p:spPr>
          <p:txBody>
            <a:bodyPr lIns="50800" tIns="50800" rIns="50800" bIns="50800" rtlCol="0" anchor="ctr"/>
            <a:lstStyle/>
            <a:p>
              <a:pPr algn="ctr">
                <a:lnSpc>
                  <a:spcPts val="2520"/>
                </a:lnSpc>
              </a:pPr>
              <a:endParaRPr/>
            </a:p>
          </p:txBody>
        </p:sp>
      </p:grpSp>
      <p:sp>
        <p:nvSpPr>
          <p:cNvPr id="7" name="TextBox 7">
            <a:extLst>
              <a:ext uri="{FF2B5EF4-FFF2-40B4-BE49-F238E27FC236}">
                <a16:creationId xmlns:a16="http://schemas.microsoft.com/office/drawing/2014/main" id="{F897482A-2E35-AC66-6B3D-46F705E73F6A}"/>
              </a:ext>
            </a:extLst>
          </p:cNvPr>
          <p:cNvSpPr txBox="1"/>
          <p:nvPr/>
        </p:nvSpPr>
        <p:spPr>
          <a:xfrm>
            <a:off x="11125200" y="1790700"/>
            <a:ext cx="6600947" cy="6117700"/>
          </a:xfrm>
          <a:prstGeom prst="rect">
            <a:avLst/>
          </a:prstGeom>
        </p:spPr>
        <p:txBody>
          <a:bodyPr wrap="square" lIns="0" tIns="0" rIns="0" bIns="0" rtlCol="0" anchor="t">
            <a:spAutoFit/>
          </a:bodyPr>
          <a:lstStyle/>
          <a:p>
            <a:pPr algn="l">
              <a:lnSpc>
                <a:spcPts val="3919"/>
              </a:lnSpc>
            </a:pPr>
            <a:r>
              <a:rPr lang="en-US" sz="3600" b="1" dirty="0">
                <a:solidFill>
                  <a:schemeClr val="accent2"/>
                </a:solidFill>
                <a:latin typeface="Courier Prime"/>
                <a:ea typeface="Courier Prime"/>
                <a:cs typeface="Courier Prime"/>
                <a:sym typeface="Courier Prime"/>
              </a:rPr>
              <a:t>Symbolism</a:t>
            </a:r>
          </a:p>
          <a:p>
            <a:pPr algn="l">
              <a:lnSpc>
                <a:spcPts val="840"/>
              </a:lnSpc>
            </a:pPr>
            <a:endParaRPr lang="en-US" sz="3600" dirty="0">
              <a:solidFill>
                <a:srgbClr val="E8E3DB"/>
              </a:solidFill>
              <a:latin typeface="Courier Prime"/>
              <a:ea typeface="Courier Prime"/>
              <a:cs typeface="Courier Prime"/>
              <a:sym typeface="Courier Prime"/>
            </a:endParaRPr>
          </a:p>
          <a:p>
            <a:pPr algn="l">
              <a:lnSpc>
                <a:spcPts val="3919"/>
              </a:lnSpc>
            </a:pPr>
            <a:r>
              <a:rPr lang="en-US" sz="3600" spc="321" dirty="0">
                <a:solidFill>
                  <a:srgbClr val="E8E3DB"/>
                </a:solidFill>
                <a:latin typeface="Courier Prime"/>
                <a:ea typeface="Courier Prime"/>
                <a:cs typeface="Courier Prime"/>
                <a:sym typeface="Courier Prime"/>
              </a:rPr>
              <a:t>Congressman’s wife → Symbolizes political power and privilege.</a:t>
            </a:r>
          </a:p>
          <a:p>
            <a:pPr algn="l">
              <a:lnSpc>
                <a:spcPts val="3919"/>
              </a:lnSpc>
            </a:pPr>
            <a:endParaRPr lang="en-US" sz="3600" spc="321" dirty="0">
              <a:solidFill>
                <a:srgbClr val="E8E3DB"/>
              </a:solidFill>
              <a:latin typeface="Courier Prime"/>
              <a:ea typeface="Courier Prime"/>
              <a:cs typeface="Courier Prime"/>
              <a:sym typeface="Courier Prime"/>
            </a:endParaRPr>
          </a:p>
          <a:p>
            <a:pPr algn="l">
              <a:lnSpc>
                <a:spcPts val="3919"/>
              </a:lnSpc>
            </a:pPr>
            <a:r>
              <a:rPr lang="en-US" sz="3600" spc="321" dirty="0">
                <a:solidFill>
                  <a:srgbClr val="E8E3DB"/>
                </a:solidFill>
                <a:latin typeface="Courier Prime"/>
                <a:ea typeface="Courier Prime"/>
                <a:cs typeface="Courier Prime"/>
                <a:sym typeface="Courier Prime"/>
              </a:rPr>
              <a:t>Slingshot →  childhood joy, leisure, and simplicity.</a:t>
            </a:r>
          </a:p>
          <a:p>
            <a:pPr algn="l">
              <a:lnSpc>
                <a:spcPts val="3919"/>
              </a:lnSpc>
            </a:pPr>
            <a:endParaRPr lang="en-US" sz="3600" spc="321" dirty="0">
              <a:solidFill>
                <a:srgbClr val="E8E3DB"/>
              </a:solidFill>
              <a:latin typeface="Courier Prime"/>
              <a:ea typeface="Courier Prime"/>
              <a:cs typeface="Courier Prime"/>
              <a:sym typeface="Courier Prime"/>
            </a:endParaRPr>
          </a:p>
          <a:p>
            <a:pPr algn="l">
              <a:lnSpc>
                <a:spcPts val="3919"/>
              </a:lnSpc>
            </a:pPr>
            <a:r>
              <a:rPr lang="en-US" sz="3600" spc="321" dirty="0">
                <a:solidFill>
                  <a:srgbClr val="E8E3DB"/>
                </a:solidFill>
                <a:latin typeface="Courier Prime"/>
                <a:ea typeface="Courier Prime"/>
                <a:cs typeface="Courier Prime"/>
                <a:sym typeface="Courier Prime"/>
              </a:rPr>
              <a:t>Mayor → Symbol of wealth and power.</a:t>
            </a:r>
            <a:endParaRPr lang="en-US" sz="3600" spc="327" dirty="0">
              <a:solidFill>
                <a:srgbClr val="E8E3DB"/>
              </a:solidFill>
              <a:latin typeface="Courier Prime"/>
              <a:ea typeface="Courier Prime"/>
              <a:cs typeface="Courier Prime"/>
              <a:sym typeface="Courier Prime"/>
            </a:endParaRPr>
          </a:p>
        </p:txBody>
      </p:sp>
      <p:sp>
        <p:nvSpPr>
          <p:cNvPr id="8" name="TextBox 6">
            <a:extLst>
              <a:ext uri="{FF2B5EF4-FFF2-40B4-BE49-F238E27FC236}">
                <a16:creationId xmlns:a16="http://schemas.microsoft.com/office/drawing/2014/main" id="{EBDEE2E4-949F-582F-EB72-B8D86D792615}"/>
              </a:ext>
            </a:extLst>
          </p:cNvPr>
          <p:cNvSpPr txBox="1"/>
          <p:nvPr/>
        </p:nvSpPr>
        <p:spPr>
          <a:xfrm>
            <a:off x="609600" y="1485900"/>
            <a:ext cx="9385974" cy="7771358"/>
          </a:xfrm>
          <a:prstGeom prst="rect">
            <a:avLst/>
          </a:prstGeom>
        </p:spPr>
        <p:txBody>
          <a:bodyPr wrap="square" lIns="0" tIns="0" rIns="0" bIns="0" rtlCol="0" anchor="t">
            <a:spAutoFit/>
          </a:bodyPr>
          <a:lstStyle/>
          <a:p>
            <a:pPr algn="l">
              <a:lnSpc>
                <a:spcPts val="3379"/>
              </a:lnSpc>
            </a:pPr>
            <a:r>
              <a:rPr lang="en-US" sz="2800" spc="-213" dirty="0">
                <a:solidFill>
                  <a:srgbClr val="2D3621"/>
                </a:solidFill>
                <a:latin typeface="Courier Prime"/>
                <a:ea typeface="Courier Prime"/>
                <a:cs typeface="Courier Prime"/>
                <a:sym typeface="Courier Prime"/>
              </a:rPr>
              <a:t>A steel bridge named after the </a:t>
            </a:r>
            <a:r>
              <a:rPr lang="en-US" sz="2800" spc="-213" dirty="0">
                <a:solidFill>
                  <a:srgbClr val="BC1010"/>
                </a:solidFill>
                <a:latin typeface="Courier Prime"/>
                <a:ea typeface="Courier Prime"/>
                <a:cs typeface="Courier Prime"/>
                <a:sym typeface="Courier Prime"/>
              </a:rPr>
              <a:t>congressman's wife</a:t>
            </a:r>
          </a:p>
          <a:p>
            <a:pPr algn="l">
              <a:lnSpc>
                <a:spcPts val="3379"/>
              </a:lnSpc>
            </a:pPr>
            <a:r>
              <a:rPr lang="en-US" sz="2800" spc="-213" dirty="0">
                <a:solidFill>
                  <a:srgbClr val="2D3621"/>
                </a:solidFill>
                <a:latin typeface="Courier Prime"/>
                <a:ea typeface="Courier Prime"/>
                <a:cs typeface="Courier Prime"/>
                <a:sym typeface="Courier Prime"/>
              </a:rPr>
              <a:t>now spans the </a:t>
            </a:r>
            <a:r>
              <a:rPr lang="en-US" sz="2800" spc="-213" dirty="0">
                <a:solidFill>
                  <a:srgbClr val="BC1010"/>
                </a:solidFill>
                <a:latin typeface="Courier Prime"/>
                <a:ea typeface="Courier Prime"/>
                <a:cs typeface="Courier Prime"/>
                <a:sym typeface="Courier Prime"/>
              </a:rPr>
              <a:t>gray river</a:t>
            </a:r>
            <a:r>
              <a:rPr lang="en-US" sz="2800" spc="-213" dirty="0">
                <a:solidFill>
                  <a:srgbClr val="2D3621"/>
                </a:solidFill>
                <a:latin typeface="Courier Prime"/>
                <a:ea typeface="Courier Prime"/>
                <a:cs typeface="Courier Prime"/>
                <a:sym typeface="Courier Prime"/>
              </a:rPr>
              <a:t> where </a:t>
            </a:r>
            <a:r>
              <a:rPr lang="en-US" sz="2800" spc="-213" dirty="0" err="1">
                <a:solidFill>
                  <a:srgbClr val="2D3621"/>
                </a:solidFill>
                <a:latin typeface="Courier Prime"/>
                <a:ea typeface="Courier Prime"/>
                <a:cs typeface="Courier Prime"/>
                <a:sym typeface="Courier Prime"/>
              </a:rPr>
              <a:t>Tasyo</a:t>
            </a:r>
            <a:r>
              <a:rPr lang="en-US" sz="2800" spc="-213" dirty="0">
                <a:solidFill>
                  <a:srgbClr val="2D3621"/>
                </a:solidFill>
                <a:latin typeface="Courier Prime"/>
                <a:ea typeface="Courier Prime"/>
                <a:cs typeface="Courier Prime"/>
                <a:sym typeface="Courier Prime"/>
              </a:rPr>
              <a:t>, the old</a:t>
            </a:r>
          </a:p>
          <a:p>
            <a:pPr algn="l">
              <a:lnSpc>
                <a:spcPts val="3379"/>
              </a:lnSpc>
            </a:pPr>
            <a:r>
              <a:rPr lang="en-US" sz="2800" spc="-213" dirty="0">
                <a:solidFill>
                  <a:srgbClr val="2D3621"/>
                </a:solidFill>
                <a:latin typeface="Courier Prime"/>
                <a:ea typeface="Courier Prime"/>
                <a:cs typeface="Courier Prime"/>
                <a:sym typeface="Courier Prime"/>
              </a:rPr>
              <a:t>goat, had split the skin of our young lizards</a:t>
            </a:r>
          </a:p>
          <a:p>
            <a:pPr algn="l">
              <a:lnSpc>
                <a:spcPts val="3379"/>
              </a:lnSpc>
            </a:pPr>
            <a:r>
              <a:rPr lang="en-US" sz="2800" spc="-213" dirty="0">
                <a:solidFill>
                  <a:srgbClr val="2D3621"/>
                </a:solidFill>
                <a:latin typeface="Courier Prime"/>
                <a:ea typeface="Courier Prime"/>
                <a:cs typeface="Courier Prime"/>
                <a:sym typeface="Courier Prime"/>
              </a:rPr>
              <a:t>to make us a man many years ago.</a:t>
            </a:r>
          </a:p>
          <a:p>
            <a:pPr algn="l">
              <a:lnSpc>
                <a:spcPts val="2079"/>
              </a:lnSpc>
            </a:pPr>
            <a:endParaRPr lang="en-US" sz="2800" spc="-213" dirty="0">
              <a:solidFill>
                <a:srgbClr val="2D3621"/>
              </a:solidFill>
              <a:latin typeface="Courier Prime"/>
              <a:ea typeface="Courier Prime"/>
              <a:cs typeface="Courier Prime"/>
              <a:sym typeface="Courier Prime"/>
            </a:endParaRPr>
          </a:p>
          <a:p>
            <a:pPr algn="l">
              <a:lnSpc>
                <a:spcPts val="2079"/>
              </a:lnSpc>
            </a:pPr>
            <a:endParaRPr lang="en-US" sz="2800" spc="-213" dirty="0">
              <a:solidFill>
                <a:srgbClr val="2D3621"/>
              </a:solidFill>
              <a:latin typeface="Courier Prime"/>
              <a:ea typeface="Courier Prime"/>
              <a:cs typeface="Courier Prime"/>
              <a:sym typeface="Courier Prime"/>
            </a:endParaRPr>
          </a:p>
          <a:p>
            <a:pPr algn="l">
              <a:lnSpc>
                <a:spcPts val="3379"/>
              </a:lnSpc>
            </a:pPr>
            <a:r>
              <a:rPr lang="en-US" sz="2800" spc="-213" dirty="0">
                <a:solidFill>
                  <a:srgbClr val="2D3621"/>
                </a:solidFill>
                <a:latin typeface="Courier Prime"/>
                <a:ea typeface="Courier Prime"/>
                <a:cs typeface="Courier Prime"/>
                <a:sym typeface="Courier Prime"/>
              </a:rPr>
              <a:t>The long blue hills where we</a:t>
            </a:r>
          </a:p>
          <a:p>
            <a:pPr algn="l">
              <a:lnSpc>
                <a:spcPts val="3379"/>
              </a:lnSpc>
            </a:pPr>
            <a:r>
              <a:rPr lang="en-US" sz="2800" spc="-213" dirty="0">
                <a:solidFill>
                  <a:srgbClr val="2D3621"/>
                </a:solidFill>
                <a:latin typeface="Courier Prime"/>
                <a:ea typeface="Courier Prime"/>
                <a:cs typeface="Courier Prime"/>
                <a:sym typeface="Courier Prime"/>
              </a:rPr>
              <a:t>used to shoot birds with </a:t>
            </a:r>
            <a:r>
              <a:rPr lang="en-US" sz="2800" spc="-213" dirty="0">
                <a:solidFill>
                  <a:srgbClr val="BC1010"/>
                </a:solidFill>
                <a:latin typeface="Courier Prime"/>
                <a:ea typeface="Courier Prime"/>
                <a:cs typeface="Courier Prime"/>
                <a:sym typeface="Courier Prime"/>
              </a:rPr>
              <a:t>slingshot or spend</a:t>
            </a:r>
          </a:p>
          <a:p>
            <a:pPr algn="l">
              <a:lnSpc>
                <a:spcPts val="3379"/>
              </a:lnSpc>
            </a:pPr>
            <a:r>
              <a:rPr lang="en-US" sz="2800" spc="-213" dirty="0">
                <a:solidFill>
                  <a:srgbClr val="BC1010"/>
                </a:solidFill>
                <a:latin typeface="Courier Prime"/>
                <a:ea typeface="Courier Prime"/>
                <a:cs typeface="Courier Prime"/>
                <a:sym typeface="Courier Prime"/>
              </a:rPr>
              <a:t>the summer afternoons we loved so much doing</a:t>
            </a:r>
          </a:p>
          <a:p>
            <a:pPr algn="l">
              <a:lnSpc>
                <a:spcPts val="3379"/>
              </a:lnSpc>
            </a:pPr>
            <a:r>
              <a:rPr lang="en-US" sz="2800" spc="-213" dirty="0">
                <a:solidFill>
                  <a:srgbClr val="BC1010"/>
                </a:solidFill>
                <a:latin typeface="Courier Prime"/>
                <a:ea typeface="Courier Prime"/>
                <a:cs typeface="Courier Prime"/>
                <a:sym typeface="Courier Prime"/>
              </a:rPr>
              <a:t>nothing in the tall grass have been bought</a:t>
            </a:r>
          </a:p>
          <a:p>
            <a:pPr algn="l">
              <a:lnSpc>
                <a:spcPts val="3379"/>
              </a:lnSpc>
            </a:pPr>
            <a:r>
              <a:rPr lang="en-US" sz="2800" spc="-213" dirty="0">
                <a:solidFill>
                  <a:srgbClr val="BC1010"/>
                </a:solidFill>
                <a:latin typeface="Courier Prime"/>
                <a:ea typeface="Courier Prime"/>
                <a:cs typeface="Courier Prime"/>
                <a:sym typeface="Courier Prime"/>
              </a:rPr>
              <a:t>by the mayor's son. </a:t>
            </a:r>
            <a:r>
              <a:rPr lang="en-US" sz="2800" spc="-213" dirty="0">
                <a:solidFill>
                  <a:srgbClr val="2D3621"/>
                </a:solidFill>
                <a:latin typeface="Courier Prime"/>
                <a:ea typeface="Courier Prime"/>
                <a:cs typeface="Courier Prime"/>
                <a:sym typeface="Courier Prime"/>
              </a:rPr>
              <a:t>Now there's a barbed wire</a:t>
            </a:r>
          </a:p>
          <a:p>
            <a:pPr algn="l">
              <a:lnSpc>
                <a:spcPts val="3379"/>
              </a:lnSpc>
            </a:pPr>
            <a:r>
              <a:rPr lang="en-US" sz="2800" spc="-213" dirty="0">
                <a:solidFill>
                  <a:srgbClr val="2D3621"/>
                </a:solidFill>
                <a:latin typeface="Courier Prime"/>
                <a:ea typeface="Courier Prime"/>
                <a:cs typeface="Courier Prime"/>
                <a:sym typeface="Courier Prime"/>
              </a:rPr>
              <a:t>fence about them; the birds have gone away.</a:t>
            </a:r>
          </a:p>
          <a:p>
            <a:pPr algn="l">
              <a:lnSpc>
                <a:spcPts val="2729"/>
              </a:lnSpc>
            </a:pPr>
            <a:endParaRPr lang="en-US" sz="2800" spc="-213" dirty="0">
              <a:solidFill>
                <a:srgbClr val="2D3621"/>
              </a:solidFill>
              <a:latin typeface="Courier Prime"/>
              <a:ea typeface="Courier Prime"/>
              <a:cs typeface="Courier Prime"/>
              <a:sym typeface="Courier Prime"/>
            </a:endParaRPr>
          </a:p>
          <a:p>
            <a:pPr algn="l">
              <a:lnSpc>
                <a:spcPts val="2729"/>
              </a:lnSpc>
            </a:pPr>
            <a:endParaRPr lang="en-US" sz="2800" spc="-213" dirty="0">
              <a:solidFill>
                <a:srgbClr val="2D3621"/>
              </a:solidFill>
              <a:latin typeface="Courier Prime"/>
              <a:ea typeface="Courier Prime"/>
              <a:cs typeface="Courier Prime"/>
              <a:sym typeface="Courier Prime"/>
            </a:endParaRPr>
          </a:p>
          <a:p>
            <a:pPr algn="l">
              <a:lnSpc>
                <a:spcPts val="3379"/>
              </a:lnSpc>
            </a:pPr>
            <a:r>
              <a:rPr lang="en-US" sz="2800" spc="-213" dirty="0">
                <a:solidFill>
                  <a:srgbClr val="2D3621"/>
                </a:solidFill>
                <a:latin typeface="Courier Prime"/>
                <a:ea typeface="Courier Prime"/>
                <a:cs typeface="Courier Prime"/>
                <a:sym typeface="Courier Prime"/>
              </a:rPr>
              <a:t>The </a:t>
            </a:r>
            <a:r>
              <a:rPr lang="en-US" sz="2800" spc="-213" dirty="0">
                <a:solidFill>
                  <a:srgbClr val="BC1010"/>
                </a:solidFill>
                <a:latin typeface="Courier Prime"/>
                <a:ea typeface="Courier Prime"/>
                <a:cs typeface="Courier Prime"/>
                <a:sym typeface="Courier Prime"/>
              </a:rPr>
              <a:t>mayor owns a big sugar plantation</a:t>
            </a:r>
            <a:r>
              <a:rPr lang="en-US" sz="2800" spc="-213" dirty="0">
                <a:solidFill>
                  <a:srgbClr val="2D3621"/>
                </a:solidFill>
                <a:latin typeface="Courier Prime"/>
                <a:ea typeface="Courier Prime"/>
                <a:cs typeface="Courier Prime"/>
                <a:sym typeface="Courier Prime"/>
              </a:rPr>
              <a:t>, three</a:t>
            </a:r>
          </a:p>
          <a:p>
            <a:pPr algn="l">
              <a:lnSpc>
                <a:spcPts val="3379"/>
              </a:lnSpc>
            </a:pPr>
            <a:r>
              <a:rPr lang="en-US" sz="2800" spc="-213" dirty="0">
                <a:solidFill>
                  <a:srgbClr val="2D3621"/>
                </a:solidFill>
                <a:latin typeface="Courier Prime"/>
                <a:ea typeface="Courier Prime"/>
                <a:cs typeface="Courier Prime"/>
                <a:sym typeface="Courier Prime"/>
              </a:rPr>
              <a:t>new cars, and a mansion with the gate overhung</a:t>
            </a:r>
          </a:p>
          <a:p>
            <a:pPr algn="l">
              <a:lnSpc>
                <a:spcPts val="3379"/>
              </a:lnSpc>
            </a:pPr>
            <a:r>
              <a:rPr lang="en-US" sz="2800" spc="-213" dirty="0">
                <a:solidFill>
                  <a:srgbClr val="2D3621"/>
                </a:solidFill>
                <a:latin typeface="Courier Prime"/>
                <a:ea typeface="Courier Prime"/>
                <a:cs typeface="Courier Prime"/>
                <a:sym typeface="Courier Prime"/>
              </a:rPr>
              <a:t>with sampaguita. Inside the gate</a:t>
            </a:r>
          </a:p>
          <a:p>
            <a:pPr algn="l">
              <a:lnSpc>
                <a:spcPts val="3379"/>
              </a:lnSpc>
            </a:pPr>
            <a:r>
              <a:rPr lang="en-US" sz="2800" spc="-213" dirty="0">
                <a:solidFill>
                  <a:srgbClr val="2D3621"/>
                </a:solidFill>
                <a:latin typeface="Courier Prime"/>
                <a:ea typeface="Courier Prime"/>
                <a:cs typeface="Courier Prime"/>
                <a:sym typeface="Courier Prime"/>
              </a:rPr>
              <a:t>are guys who carry a rifle and a pistol.</a:t>
            </a:r>
          </a:p>
          <a:p>
            <a:pPr algn="l">
              <a:lnSpc>
                <a:spcPts val="3379"/>
              </a:lnSpc>
            </a:pPr>
            <a:endParaRPr lang="en-US" sz="2800" spc="-213" dirty="0">
              <a:solidFill>
                <a:srgbClr val="2D3621"/>
              </a:solidFill>
              <a:latin typeface="Courier Prime"/>
              <a:ea typeface="Courier Prime"/>
              <a:cs typeface="Courier Prime"/>
              <a:sym typeface="Courier Prime"/>
            </a:endParaRPr>
          </a:p>
        </p:txBody>
      </p:sp>
    </p:spTree>
    <p:extLst>
      <p:ext uri="{BB962C8B-B14F-4D97-AF65-F5344CB8AC3E}">
        <p14:creationId xmlns:p14="http://schemas.microsoft.com/office/powerpoint/2010/main" val="220563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6985086" cy="10287000"/>
            <a:chOff x="0" y="0"/>
            <a:chExt cx="1839694" cy="2709333"/>
          </a:xfrm>
        </p:grpSpPr>
        <p:sp>
          <p:nvSpPr>
            <p:cNvPr id="3" name="Freeform 3"/>
            <p:cNvSpPr/>
            <p:nvPr/>
          </p:nvSpPr>
          <p:spPr>
            <a:xfrm>
              <a:off x="0" y="0"/>
              <a:ext cx="1839694" cy="2709333"/>
            </a:xfrm>
            <a:custGeom>
              <a:avLst/>
              <a:gdLst/>
              <a:ahLst/>
              <a:cxnLst/>
              <a:rect l="l" t="t" r="r" b="b"/>
              <a:pathLst>
                <a:path w="1839694" h="2709333">
                  <a:moveTo>
                    <a:pt x="0" y="0"/>
                  </a:moveTo>
                  <a:lnTo>
                    <a:pt x="1839694" y="0"/>
                  </a:lnTo>
                  <a:lnTo>
                    <a:pt x="1839694" y="2709333"/>
                  </a:lnTo>
                  <a:lnTo>
                    <a:pt x="0" y="2709333"/>
                  </a:lnTo>
                  <a:close/>
                </a:path>
              </a:pathLst>
            </a:custGeom>
            <a:solidFill>
              <a:srgbClr val="E8E3DB"/>
            </a:solidFill>
          </p:spPr>
        </p:sp>
        <p:sp>
          <p:nvSpPr>
            <p:cNvPr id="4" name="TextBox 4"/>
            <p:cNvSpPr txBox="1"/>
            <p:nvPr/>
          </p:nvSpPr>
          <p:spPr>
            <a:xfrm>
              <a:off x="0" y="-38100"/>
              <a:ext cx="1839694" cy="2747433"/>
            </a:xfrm>
            <a:prstGeom prst="rect">
              <a:avLst/>
            </a:prstGeom>
          </p:spPr>
          <p:txBody>
            <a:bodyPr lIns="50800" tIns="50800" rIns="50800" bIns="50800" rtlCol="0" anchor="ctr"/>
            <a:lstStyle/>
            <a:p>
              <a:pPr algn="ctr">
                <a:lnSpc>
                  <a:spcPts val="2520"/>
                </a:lnSpc>
              </a:pPr>
              <a:endParaRPr/>
            </a:p>
          </p:txBody>
        </p:sp>
      </p:grpSp>
      <p:sp>
        <p:nvSpPr>
          <p:cNvPr id="5" name="TextBox 5"/>
          <p:cNvSpPr txBox="1"/>
          <p:nvPr/>
        </p:nvSpPr>
        <p:spPr>
          <a:xfrm>
            <a:off x="8430449" y="1028700"/>
            <a:ext cx="8559374" cy="2000548"/>
          </a:xfrm>
          <a:prstGeom prst="rect">
            <a:avLst/>
          </a:prstGeom>
        </p:spPr>
        <p:txBody>
          <a:bodyPr lIns="0" tIns="0" rIns="0" bIns="0" rtlCol="0" anchor="t">
            <a:spAutoFit/>
          </a:bodyPr>
          <a:lstStyle/>
          <a:p>
            <a:pPr algn="l">
              <a:lnSpc>
                <a:spcPts val="3919"/>
              </a:lnSpc>
            </a:pPr>
            <a:r>
              <a:rPr lang="en-US" sz="3200" dirty="0">
                <a:solidFill>
                  <a:srgbClr val="E8E3DB"/>
                </a:solidFill>
                <a:latin typeface="Courier Prime"/>
                <a:ea typeface="Courier Prime"/>
                <a:cs typeface="Courier Prime"/>
                <a:sym typeface="Courier Prime"/>
              </a:rPr>
              <a:t>→ Use of everyday items like rice, sardines, and sugar shows the simplicity and routine of daily life</a:t>
            </a:r>
          </a:p>
        </p:txBody>
      </p:sp>
      <p:sp>
        <p:nvSpPr>
          <p:cNvPr id="6" name="TextBox 6"/>
          <p:cNvSpPr txBox="1"/>
          <p:nvPr/>
        </p:nvSpPr>
        <p:spPr>
          <a:xfrm>
            <a:off x="766488" y="1277879"/>
            <a:ext cx="5481912" cy="7862409"/>
          </a:xfrm>
          <a:prstGeom prst="rect">
            <a:avLst/>
          </a:prstGeom>
        </p:spPr>
        <p:txBody>
          <a:bodyPr wrap="square" lIns="0" tIns="0" rIns="0" bIns="0" rtlCol="0" anchor="t">
            <a:spAutoFit/>
          </a:bodyPr>
          <a:lstStyle/>
          <a:p>
            <a:pPr algn="l">
              <a:lnSpc>
                <a:spcPts val="3379"/>
              </a:lnSpc>
            </a:pPr>
            <a:r>
              <a:rPr lang="en-US" sz="3200" spc="-213" dirty="0">
                <a:solidFill>
                  <a:srgbClr val="2D3621"/>
                </a:solidFill>
                <a:latin typeface="Courier Prime"/>
                <a:ea typeface="Courier Prime"/>
                <a:cs typeface="Courier Prime"/>
                <a:sym typeface="Courier Prime"/>
              </a:rPr>
              <a:t>We still go to Konga's store for rice</a:t>
            </a:r>
          </a:p>
          <a:p>
            <a:pPr algn="l">
              <a:lnSpc>
                <a:spcPts val="3379"/>
              </a:lnSpc>
            </a:pPr>
            <a:r>
              <a:rPr lang="en-US" sz="3200" spc="-213" dirty="0">
                <a:solidFill>
                  <a:srgbClr val="2D3621"/>
                </a:solidFill>
                <a:latin typeface="Courier Prime"/>
                <a:ea typeface="Courier Prime"/>
                <a:cs typeface="Courier Prime"/>
                <a:sym typeface="Courier Prime"/>
              </a:rPr>
              <a:t>and sardines and sugar and nails for the </a:t>
            </a:r>
            <a:r>
              <a:rPr lang="en-US" sz="3200" spc="-213" dirty="0">
                <a:solidFill>
                  <a:srgbClr val="BC1010"/>
                </a:solidFill>
                <a:latin typeface="Courier Prime"/>
                <a:ea typeface="Courier Prime"/>
                <a:cs typeface="Courier Prime"/>
                <a:sym typeface="Courier Prime"/>
              </a:rPr>
              <a:t>coffin</a:t>
            </a:r>
            <a:r>
              <a:rPr lang="en-US" sz="3200" spc="-213" dirty="0">
                <a:solidFill>
                  <a:srgbClr val="2D3621"/>
                </a:solidFill>
                <a:latin typeface="Courier Prime"/>
                <a:ea typeface="Courier Prime"/>
                <a:cs typeface="Courier Prime"/>
                <a:sym typeface="Courier Prime"/>
              </a:rPr>
              <a:t>.</a:t>
            </a:r>
          </a:p>
          <a:p>
            <a:pPr algn="l">
              <a:lnSpc>
                <a:spcPts val="3379"/>
              </a:lnSpc>
            </a:pPr>
            <a:endParaRPr lang="en-US" sz="3200" spc="-213" dirty="0">
              <a:solidFill>
                <a:srgbClr val="2D3621"/>
              </a:solidFill>
              <a:latin typeface="Courier Prime"/>
              <a:ea typeface="Courier Prime"/>
              <a:cs typeface="Courier Prime"/>
              <a:sym typeface="Courier Prime"/>
            </a:endParaRPr>
          </a:p>
          <a:p>
            <a:pPr algn="l">
              <a:lnSpc>
                <a:spcPts val="3379"/>
              </a:lnSpc>
            </a:pPr>
            <a:r>
              <a:rPr lang="en-US" sz="3200" spc="-213" dirty="0">
                <a:solidFill>
                  <a:srgbClr val="2D3621"/>
                </a:solidFill>
                <a:latin typeface="Courier Prime"/>
                <a:ea typeface="Courier Prime"/>
                <a:cs typeface="Courier Prime"/>
                <a:sym typeface="Courier Prime"/>
              </a:rPr>
              <a:t>Still only a handful go to mass on Sundays.</a:t>
            </a:r>
          </a:p>
          <a:p>
            <a:pPr algn="l">
              <a:lnSpc>
                <a:spcPts val="3379"/>
              </a:lnSpc>
            </a:pPr>
            <a:r>
              <a:rPr lang="en-US" sz="3200" spc="-213" dirty="0">
                <a:solidFill>
                  <a:srgbClr val="2D3621"/>
                </a:solidFill>
                <a:latin typeface="Courier Prime"/>
                <a:ea typeface="Courier Prime"/>
                <a:cs typeface="Courier Prime"/>
                <a:sym typeface="Courier Prime"/>
              </a:rPr>
              <a:t>In the church the men talk, sleep; the children play.</a:t>
            </a:r>
          </a:p>
          <a:p>
            <a:pPr algn="l">
              <a:lnSpc>
                <a:spcPts val="3379"/>
              </a:lnSpc>
            </a:pPr>
            <a:r>
              <a:rPr lang="en-US" sz="3200" spc="-213" dirty="0">
                <a:solidFill>
                  <a:srgbClr val="2D3621"/>
                </a:solidFill>
                <a:latin typeface="Courier Prime"/>
                <a:ea typeface="Courier Prime"/>
                <a:cs typeface="Courier Prime"/>
                <a:sym typeface="Courier Prime"/>
              </a:rPr>
              <a:t>The </a:t>
            </a:r>
            <a:r>
              <a:rPr lang="en-US" sz="3200" spc="-213" dirty="0">
                <a:solidFill>
                  <a:srgbClr val="BC1010"/>
                </a:solidFill>
                <a:latin typeface="Courier Prime"/>
                <a:ea typeface="Courier Prime"/>
                <a:cs typeface="Courier Prime"/>
                <a:sym typeface="Courier Prime"/>
              </a:rPr>
              <a:t>priest</a:t>
            </a:r>
            <a:r>
              <a:rPr lang="en-US" sz="3200" spc="-213" dirty="0">
                <a:solidFill>
                  <a:srgbClr val="2D3621"/>
                </a:solidFill>
                <a:latin typeface="Courier Prime"/>
                <a:ea typeface="Courier Prime"/>
                <a:cs typeface="Courier Prime"/>
                <a:sym typeface="Courier Prime"/>
              </a:rPr>
              <a:t> is sad.</a:t>
            </a:r>
          </a:p>
          <a:p>
            <a:pPr algn="l">
              <a:lnSpc>
                <a:spcPts val="3379"/>
              </a:lnSpc>
            </a:pPr>
            <a:endParaRPr lang="en-US" sz="3200" spc="-213" dirty="0">
              <a:solidFill>
                <a:srgbClr val="2D3621"/>
              </a:solidFill>
              <a:latin typeface="Courier Prime"/>
              <a:ea typeface="Courier Prime"/>
              <a:cs typeface="Courier Prime"/>
              <a:sym typeface="Courier Prime"/>
            </a:endParaRPr>
          </a:p>
          <a:p>
            <a:pPr algn="l">
              <a:lnSpc>
                <a:spcPts val="3379"/>
              </a:lnSpc>
            </a:pPr>
            <a:r>
              <a:rPr lang="en-US" sz="3200" spc="-213" dirty="0">
                <a:solidFill>
                  <a:srgbClr val="2D3621"/>
                </a:solidFill>
                <a:latin typeface="Courier Prime"/>
                <a:ea typeface="Courier Prime"/>
                <a:cs typeface="Courier Prime"/>
                <a:sym typeface="Courier Prime"/>
              </a:rPr>
              <a:t>Last night the storm came and blew away</a:t>
            </a:r>
          </a:p>
          <a:p>
            <a:pPr algn="l">
              <a:lnSpc>
                <a:spcPts val="3379"/>
              </a:lnSpc>
            </a:pPr>
            <a:r>
              <a:rPr lang="en-US" sz="3200" spc="-213" dirty="0">
                <a:solidFill>
                  <a:srgbClr val="2D3621"/>
                </a:solidFill>
                <a:latin typeface="Courier Prime"/>
                <a:ea typeface="Courier Prime"/>
                <a:cs typeface="Courier Prime"/>
                <a:sym typeface="Courier Prime"/>
              </a:rPr>
              <a:t>the </a:t>
            </a:r>
            <a:r>
              <a:rPr lang="en-US" sz="3200" spc="-213" dirty="0">
                <a:solidFill>
                  <a:srgbClr val="BC1010"/>
                </a:solidFill>
                <a:latin typeface="Courier Prime"/>
                <a:ea typeface="Courier Prime"/>
                <a:cs typeface="Courier Prime"/>
                <a:sym typeface="Courier Prime"/>
              </a:rPr>
              <a:t>cornflowers</a:t>
            </a:r>
            <a:r>
              <a:rPr lang="en-US" sz="3200" spc="-213" dirty="0">
                <a:solidFill>
                  <a:srgbClr val="2D3621"/>
                </a:solidFill>
                <a:latin typeface="Courier Prime"/>
                <a:ea typeface="Courier Prime"/>
                <a:cs typeface="Courier Prime"/>
                <a:sym typeface="Courier Prime"/>
              </a:rPr>
              <a:t>. The cornfields are full of cries.</a:t>
            </a:r>
          </a:p>
          <a:p>
            <a:pPr algn="l">
              <a:lnSpc>
                <a:spcPts val="3379"/>
              </a:lnSpc>
            </a:pPr>
            <a:endParaRPr lang="en-US" sz="3200" spc="-213" dirty="0">
              <a:solidFill>
                <a:srgbClr val="2D3621"/>
              </a:solidFill>
              <a:latin typeface="Courier Prime"/>
              <a:ea typeface="Courier Prime"/>
              <a:cs typeface="Courier Prime"/>
              <a:sym typeface="Courier Prime"/>
            </a:endParaRPr>
          </a:p>
        </p:txBody>
      </p:sp>
      <p:sp>
        <p:nvSpPr>
          <p:cNvPr id="7" name="TextBox 7"/>
          <p:cNvSpPr txBox="1"/>
          <p:nvPr/>
        </p:nvSpPr>
        <p:spPr>
          <a:xfrm>
            <a:off x="8430449" y="3770683"/>
            <a:ext cx="8559374" cy="1500411"/>
          </a:xfrm>
          <a:prstGeom prst="rect">
            <a:avLst/>
          </a:prstGeom>
        </p:spPr>
        <p:txBody>
          <a:bodyPr lIns="0" tIns="0" rIns="0" bIns="0" rtlCol="0" anchor="t">
            <a:spAutoFit/>
          </a:bodyPr>
          <a:lstStyle/>
          <a:p>
            <a:pPr algn="l">
              <a:lnSpc>
                <a:spcPts val="3919"/>
              </a:lnSpc>
            </a:pPr>
            <a:r>
              <a:rPr lang="en-US" sz="3200" dirty="0">
                <a:solidFill>
                  <a:srgbClr val="E8E3DB"/>
                </a:solidFill>
                <a:latin typeface="Courier Prime"/>
                <a:ea typeface="Courier Prime"/>
                <a:cs typeface="Courier Prime"/>
                <a:sym typeface="Courier Prime"/>
              </a:rPr>
              <a:t>→ The priest’s sadness symbolizes concern for the community’s moral and spiritual state.</a:t>
            </a:r>
          </a:p>
        </p:txBody>
      </p:sp>
      <p:sp>
        <p:nvSpPr>
          <p:cNvPr id="8" name="TextBox 8"/>
          <p:cNvSpPr txBox="1"/>
          <p:nvPr/>
        </p:nvSpPr>
        <p:spPr>
          <a:xfrm>
            <a:off x="8430449" y="6438900"/>
            <a:ext cx="8559374" cy="1500411"/>
          </a:xfrm>
          <a:prstGeom prst="rect">
            <a:avLst/>
          </a:prstGeom>
        </p:spPr>
        <p:txBody>
          <a:bodyPr lIns="0" tIns="0" rIns="0" bIns="0" rtlCol="0" anchor="t">
            <a:spAutoFit/>
          </a:bodyPr>
          <a:lstStyle/>
          <a:p>
            <a:pPr algn="l">
              <a:lnSpc>
                <a:spcPts val="3919"/>
              </a:lnSpc>
            </a:pPr>
            <a:r>
              <a:rPr lang="en-US" sz="3200" dirty="0">
                <a:solidFill>
                  <a:srgbClr val="E8E3DB"/>
                </a:solidFill>
                <a:latin typeface="Courier Prime"/>
                <a:ea typeface="Courier Prime"/>
                <a:cs typeface="Courier Prime"/>
                <a:sym typeface="Courier Prime"/>
              </a:rPr>
              <a:t>→ The storm symbolizes sudden hardship and uncontrollable forces affecting the villagers.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sp>
        <p:nvSpPr>
          <p:cNvPr id="5" name="TextBox 5"/>
          <p:cNvSpPr txBox="1"/>
          <p:nvPr/>
        </p:nvSpPr>
        <p:spPr>
          <a:xfrm>
            <a:off x="9753602" y="2857500"/>
            <a:ext cx="7512674" cy="3857466"/>
          </a:xfrm>
          <a:prstGeom prst="rect">
            <a:avLst/>
          </a:prstGeom>
        </p:spPr>
        <p:txBody>
          <a:bodyPr wrap="square" lIns="0" tIns="0" rIns="0" bIns="0" rtlCol="0" anchor="t">
            <a:spAutoFit/>
          </a:bodyPr>
          <a:lstStyle/>
          <a:p>
            <a:pPr algn="l">
              <a:lnSpc>
                <a:spcPts val="3499"/>
              </a:lnSpc>
            </a:pPr>
            <a:r>
              <a:rPr lang="en-US" sz="3600" dirty="0">
                <a:solidFill>
                  <a:schemeClr val="accent2"/>
                </a:solidFill>
                <a:latin typeface="Courier Prime"/>
                <a:ea typeface="Courier Prime"/>
                <a:cs typeface="Courier Prime"/>
                <a:sym typeface="Courier Prime"/>
              </a:rPr>
              <a:t>Imagery</a:t>
            </a:r>
          </a:p>
          <a:p>
            <a:pPr algn="l">
              <a:lnSpc>
                <a:spcPts val="1819"/>
              </a:lnSpc>
            </a:pPr>
            <a:endParaRPr lang="en-US" sz="3600" dirty="0">
              <a:solidFill>
                <a:srgbClr val="E8E3DB"/>
              </a:solidFill>
              <a:latin typeface="Courier Prime"/>
              <a:ea typeface="Courier Prime"/>
              <a:cs typeface="Courier Prime"/>
              <a:sym typeface="Courier Prime"/>
            </a:endParaRPr>
          </a:p>
          <a:p>
            <a:pPr algn="l">
              <a:lnSpc>
                <a:spcPts val="3499"/>
              </a:lnSpc>
            </a:pPr>
            <a:r>
              <a:rPr lang="en-US" sz="3600" dirty="0">
                <a:solidFill>
                  <a:srgbClr val="E8E3DB"/>
                </a:solidFill>
                <a:latin typeface="Courier Prime"/>
                <a:ea typeface="Courier Prime"/>
                <a:cs typeface="Courier Prime"/>
                <a:sym typeface="Courier Prime"/>
              </a:rPr>
              <a:t>“Good clothes, good food, big money” → Visual and material imagery showing desire, luxury, and temptation.</a:t>
            </a:r>
          </a:p>
          <a:p>
            <a:pPr algn="l">
              <a:lnSpc>
                <a:spcPts val="3499"/>
              </a:lnSpc>
            </a:pPr>
            <a:endParaRPr lang="en-US" sz="3600" dirty="0">
              <a:solidFill>
                <a:srgbClr val="E8E3DB"/>
              </a:solidFill>
              <a:latin typeface="Courier Prime"/>
              <a:ea typeface="Courier Prime"/>
              <a:cs typeface="Courier Prime"/>
              <a:sym typeface="Courier Prime"/>
            </a:endParaRPr>
          </a:p>
          <a:p>
            <a:pPr algn="l">
              <a:lnSpc>
                <a:spcPts val="3639"/>
              </a:lnSpc>
            </a:pPr>
            <a:endParaRPr lang="en-US" sz="3600" dirty="0">
              <a:solidFill>
                <a:srgbClr val="E8E3DB"/>
              </a:solidFill>
              <a:latin typeface="Courier Prime"/>
              <a:ea typeface="Courier Prime"/>
              <a:cs typeface="Courier Prime"/>
              <a:sym typeface="Courier Prime"/>
            </a:endParaRPr>
          </a:p>
        </p:txBody>
      </p:sp>
      <p:grpSp>
        <p:nvGrpSpPr>
          <p:cNvPr id="8" name="Group 2">
            <a:extLst>
              <a:ext uri="{FF2B5EF4-FFF2-40B4-BE49-F238E27FC236}">
                <a16:creationId xmlns:a16="http://schemas.microsoft.com/office/drawing/2014/main" id="{006A15A9-81F5-CBF6-FC38-A15952F8B043}"/>
              </a:ext>
            </a:extLst>
          </p:cNvPr>
          <p:cNvGrpSpPr/>
          <p:nvPr/>
        </p:nvGrpSpPr>
        <p:grpSpPr>
          <a:xfrm>
            <a:off x="0" y="0"/>
            <a:ext cx="8534400" cy="10287000"/>
            <a:chOff x="0" y="0"/>
            <a:chExt cx="1859270" cy="2709333"/>
          </a:xfrm>
        </p:grpSpPr>
        <p:sp>
          <p:nvSpPr>
            <p:cNvPr id="9" name="Freeform 3">
              <a:extLst>
                <a:ext uri="{FF2B5EF4-FFF2-40B4-BE49-F238E27FC236}">
                  <a16:creationId xmlns:a16="http://schemas.microsoft.com/office/drawing/2014/main" id="{D5C196A7-F4BD-F9F1-809D-EAA1B8CA4F74}"/>
                </a:ext>
              </a:extLst>
            </p:cNvPr>
            <p:cNvSpPr/>
            <p:nvPr/>
          </p:nvSpPr>
          <p:spPr>
            <a:xfrm>
              <a:off x="0" y="0"/>
              <a:ext cx="1859270" cy="2709333"/>
            </a:xfrm>
            <a:custGeom>
              <a:avLst/>
              <a:gdLst/>
              <a:ahLst/>
              <a:cxnLst/>
              <a:rect l="l" t="t" r="r" b="b"/>
              <a:pathLst>
                <a:path w="1859270" h="2709333">
                  <a:moveTo>
                    <a:pt x="0" y="0"/>
                  </a:moveTo>
                  <a:lnTo>
                    <a:pt x="1859270" y="0"/>
                  </a:lnTo>
                  <a:lnTo>
                    <a:pt x="1859270" y="2709333"/>
                  </a:lnTo>
                  <a:lnTo>
                    <a:pt x="0" y="2709333"/>
                  </a:lnTo>
                  <a:close/>
                </a:path>
              </a:pathLst>
            </a:custGeom>
            <a:solidFill>
              <a:srgbClr val="E8E3DB"/>
            </a:solidFill>
          </p:spPr>
        </p:sp>
        <p:sp>
          <p:nvSpPr>
            <p:cNvPr id="10" name="TextBox 4">
              <a:extLst>
                <a:ext uri="{FF2B5EF4-FFF2-40B4-BE49-F238E27FC236}">
                  <a16:creationId xmlns:a16="http://schemas.microsoft.com/office/drawing/2014/main" id="{AC10EDDF-DBC5-4FF2-FCF8-A5A7EF3BD092}"/>
                </a:ext>
              </a:extLst>
            </p:cNvPr>
            <p:cNvSpPr txBox="1"/>
            <p:nvPr/>
          </p:nvSpPr>
          <p:spPr>
            <a:xfrm>
              <a:off x="0" y="-38100"/>
              <a:ext cx="1859270" cy="2747433"/>
            </a:xfrm>
            <a:prstGeom prst="rect">
              <a:avLst/>
            </a:prstGeom>
          </p:spPr>
          <p:txBody>
            <a:bodyPr lIns="50800" tIns="50800" rIns="50800" bIns="50800" rtlCol="0" anchor="ctr"/>
            <a:lstStyle/>
            <a:p>
              <a:pPr algn="ctr">
                <a:lnSpc>
                  <a:spcPts val="2520"/>
                </a:lnSpc>
              </a:pPr>
              <a:endParaRPr/>
            </a:p>
          </p:txBody>
        </p:sp>
      </p:grpSp>
      <p:sp>
        <p:nvSpPr>
          <p:cNvPr id="11" name="TextBox 6">
            <a:extLst>
              <a:ext uri="{FF2B5EF4-FFF2-40B4-BE49-F238E27FC236}">
                <a16:creationId xmlns:a16="http://schemas.microsoft.com/office/drawing/2014/main" id="{EC0EB906-7469-F253-2D01-6A8B22D5435E}"/>
              </a:ext>
            </a:extLst>
          </p:cNvPr>
          <p:cNvSpPr txBox="1"/>
          <p:nvPr/>
        </p:nvSpPr>
        <p:spPr>
          <a:xfrm>
            <a:off x="564524" y="401510"/>
            <a:ext cx="7405352" cy="10042493"/>
          </a:xfrm>
          <a:prstGeom prst="rect">
            <a:avLst/>
          </a:prstGeom>
        </p:spPr>
        <p:txBody>
          <a:bodyPr wrap="square" lIns="0" tIns="0" rIns="0" bIns="0" rtlCol="0" anchor="t">
            <a:spAutoFit/>
          </a:bodyPr>
          <a:lstStyle/>
          <a:p>
            <a:pPr algn="l">
              <a:lnSpc>
                <a:spcPts val="3379"/>
              </a:lnSpc>
            </a:pPr>
            <a:r>
              <a:rPr lang="en-US" sz="3200" spc="-213" dirty="0">
                <a:solidFill>
                  <a:srgbClr val="2D3621"/>
                </a:solidFill>
                <a:latin typeface="Courier Prime"/>
                <a:ea typeface="Courier Prime"/>
                <a:cs typeface="Courier Prime"/>
                <a:sym typeface="Courier Prime"/>
              </a:rPr>
              <a:t>Your cousin, Julia, has just become a whore.</a:t>
            </a:r>
          </a:p>
          <a:p>
            <a:pPr algn="l">
              <a:lnSpc>
                <a:spcPts val="3379"/>
              </a:lnSpc>
            </a:pPr>
            <a:r>
              <a:rPr lang="en-US" sz="3200" spc="-213" dirty="0">
                <a:solidFill>
                  <a:srgbClr val="2D3621"/>
                </a:solidFill>
                <a:latin typeface="Courier Prime"/>
                <a:ea typeface="Courier Prime"/>
                <a:cs typeface="Courier Prime"/>
                <a:sym typeface="Courier Prime"/>
              </a:rPr>
              <a:t>She liked </a:t>
            </a:r>
            <a:r>
              <a:rPr lang="en-US" sz="3200" spc="-213" dirty="0">
                <a:solidFill>
                  <a:srgbClr val="BC1010"/>
                </a:solidFill>
                <a:latin typeface="Courier Prime"/>
                <a:ea typeface="Courier Prime"/>
                <a:cs typeface="Courier Prime"/>
                <a:sym typeface="Courier Prime"/>
              </a:rPr>
              <a:t>good clothes, good food, big money.</a:t>
            </a:r>
          </a:p>
          <a:p>
            <a:pPr algn="l">
              <a:lnSpc>
                <a:spcPts val="3379"/>
              </a:lnSpc>
            </a:pPr>
            <a:r>
              <a:rPr lang="en-US" sz="3200" spc="-213" dirty="0">
                <a:solidFill>
                  <a:srgbClr val="2D3621"/>
                </a:solidFill>
                <a:latin typeface="Courier Prime"/>
                <a:ea typeface="Courier Prime"/>
                <a:cs typeface="Courier Prime"/>
                <a:sym typeface="Courier Prime"/>
              </a:rPr>
              <a:t>That's why she became a whore.</a:t>
            </a:r>
          </a:p>
          <a:p>
            <a:pPr algn="l">
              <a:lnSpc>
                <a:spcPts val="3379"/>
              </a:lnSpc>
            </a:pPr>
            <a:r>
              <a:rPr lang="en-US" sz="3200" spc="-213" dirty="0">
                <a:solidFill>
                  <a:srgbClr val="2D3621"/>
                </a:solidFill>
                <a:latin typeface="Courier Prime"/>
                <a:ea typeface="Courier Prime"/>
                <a:cs typeface="Courier Prime"/>
                <a:sym typeface="Courier Prime"/>
              </a:rPr>
              <a:t>Now our hometown has seven whores.</a:t>
            </a:r>
          </a:p>
          <a:p>
            <a:pPr algn="l">
              <a:lnSpc>
                <a:spcPts val="3379"/>
              </a:lnSpc>
            </a:pPr>
            <a:endParaRPr lang="en-US" sz="3200" spc="-213" dirty="0">
              <a:solidFill>
                <a:srgbClr val="2D3621"/>
              </a:solidFill>
              <a:latin typeface="Courier Prime"/>
              <a:ea typeface="Courier Prime"/>
              <a:cs typeface="Courier Prime"/>
              <a:sym typeface="Courier Prime"/>
            </a:endParaRPr>
          </a:p>
          <a:p>
            <a:pPr algn="l">
              <a:lnSpc>
                <a:spcPts val="3379"/>
              </a:lnSpc>
            </a:pPr>
            <a:r>
              <a:rPr lang="en-US" sz="3200" spc="-213" dirty="0">
                <a:solidFill>
                  <a:srgbClr val="2D3621"/>
                </a:solidFill>
                <a:latin typeface="Courier Prime"/>
                <a:ea typeface="Courier Prime"/>
                <a:cs typeface="Courier Prime"/>
                <a:sym typeface="Courier Prime"/>
              </a:rPr>
              <a:t>Pete, old friend,</a:t>
            </a:r>
          </a:p>
          <a:p>
            <a:pPr algn="l">
              <a:lnSpc>
                <a:spcPts val="3379"/>
              </a:lnSpc>
            </a:pPr>
            <a:r>
              <a:rPr lang="en-US" sz="3200" spc="-213" dirty="0">
                <a:solidFill>
                  <a:srgbClr val="2D3621"/>
                </a:solidFill>
                <a:latin typeface="Courier Prime"/>
                <a:ea typeface="Courier Prime"/>
                <a:cs typeface="Courier Prime"/>
                <a:sym typeface="Courier Prime"/>
              </a:rPr>
              <a:t>every time we have good reason to get drunk </a:t>
            </a:r>
          </a:p>
          <a:p>
            <a:pPr algn="l">
              <a:lnSpc>
                <a:spcPts val="3379"/>
              </a:lnSpc>
            </a:pPr>
            <a:r>
              <a:rPr lang="en-US" sz="3200" spc="-213" dirty="0">
                <a:solidFill>
                  <a:srgbClr val="2D3621"/>
                </a:solidFill>
                <a:latin typeface="Courier Prime"/>
                <a:ea typeface="Courier Prime"/>
                <a:cs typeface="Courier Prime"/>
                <a:sym typeface="Courier Prime"/>
              </a:rPr>
              <a:t>and be </a:t>
            </a:r>
            <a:r>
              <a:rPr lang="en-US" sz="3200" spc="-213" dirty="0">
                <a:solidFill>
                  <a:srgbClr val="BC1010"/>
                </a:solidFill>
                <a:latin typeface="Courier Prime"/>
                <a:ea typeface="Courier Prime"/>
                <a:cs typeface="Courier Prime"/>
                <a:sym typeface="Courier Prime"/>
              </a:rPr>
              <a:t>carried home in a wheelbarrow</a:t>
            </a:r>
          </a:p>
          <a:p>
            <a:pPr algn="l">
              <a:lnSpc>
                <a:spcPts val="3379"/>
              </a:lnSpc>
            </a:pPr>
            <a:r>
              <a:rPr lang="en-US" sz="3200" spc="-213" dirty="0">
                <a:solidFill>
                  <a:srgbClr val="2D3621"/>
                </a:solidFill>
                <a:latin typeface="Courier Prime"/>
                <a:ea typeface="Courier Prime"/>
                <a:cs typeface="Courier Prime"/>
                <a:sym typeface="Courier Prime"/>
              </a:rPr>
              <a:t>we always remember you. Oh, we miss</a:t>
            </a:r>
          </a:p>
          <a:p>
            <a:pPr algn="l">
              <a:lnSpc>
                <a:spcPts val="3379"/>
              </a:lnSpc>
            </a:pPr>
            <a:r>
              <a:rPr lang="en-US" sz="3200" spc="-213" dirty="0">
                <a:solidFill>
                  <a:srgbClr val="2D3621"/>
                </a:solidFill>
                <a:latin typeface="Courier Prime"/>
                <a:ea typeface="Courier Prime"/>
                <a:cs typeface="Courier Prime"/>
                <a:sym typeface="Courier Prime"/>
              </a:rPr>
              <a:t>both Pete and Pedro.</a:t>
            </a:r>
          </a:p>
          <a:p>
            <a:pPr algn="l">
              <a:lnSpc>
                <a:spcPts val="3379"/>
              </a:lnSpc>
            </a:pPr>
            <a:endParaRPr lang="en-US" sz="3200" spc="-213" dirty="0">
              <a:solidFill>
                <a:srgbClr val="2D3621"/>
              </a:solidFill>
              <a:latin typeface="Courier Prime"/>
              <a:ea typeface="Courier Prime"/>
              <a:cs typeface="Courier Prime"/>
              <a:sym typeface="Courier Prime"/>
            </a:endParaRPr>
          </a:p>
          <a:p>
            <a:pPr algn="l">
              <a:lnSpc>
                <a:spcPts val="3379"/>
              </a:lnSpc>
            </a:pPr>
            <a:r>
              <a:rPr lang="en-US" sz="3200" spc="-213" dirty="0">
                <a:solidFill>
                  <a:srgbClr val="2D3621"/>
                </a:solidFill>
                <a:latin typeface="Courier Prime"/>
                <a:ea typeface="Courier Prime"/>
                <a:cs typeface="Courier Prime"/>
                <a:sym typeface="Courier Prime"/>
              </a:rPr>
              <a:t>Remember us to your American wife,</a:t>
            </a:r>
          </a:p>
          <a:p>
            <a:pPr algn="l">
              <a:lnSpc>
                <a:spcPts val="3379"/>
              </a:lnSpc>
            </a:pPr>
            <a:r>
              <a:rPr lang="en-US" sz="3200" spc="-213" dirty="0">
                <a:solidFill>
                  <a:srgbClr val="2D3621"/>
                </a:solidFill>
                <a:latin typeface="Courier Prime"/>
                <a:ea typeface="Courier Prime"/>
                <a:cs typeface="Courier Prime"/>
                <a:sym typeface="Courier Prime"/>
              </a:rPr>
              <a:t>you lucky bastard. </a:t>
            </a:r>
            <a:r>
              <a:rPr lang="en-US" sz="3200" spc="-213" dirty="0" err="1">
                <a:solidFill>
                  <a:srgbClr val="2D3621"/>
                </a:solidFill>
                <a:latin typeface="Courier Prime"/>
                <a:ea typeface="Courier Prime"/>
                <a:cs typeface="Courier Prime"/>
                <a:sym typeface="Courier Prime"/>
              </a:rPr>
              <a:t>Islaw</a:t>
            </a:r>
            <a:r>
              <a:rPr lang="en-US" sz="3200" spc="-213" dirty="0">
                <a:solidFill>
                  <a:srgbClr val="2D3621"/>
                </a:solidFill>
                <a:latin typeface="Courier Prime"/>
                <a:ea typeface="Courier Prime"/>
                <a:cs typeface="Courier Prime"/>
                <a:sym typeface="Courier Prime"/>
              </a:rPr>
              <a:t>, your cock-eyed</a:t>
            </a:r>
          </a:p>
          <a:p>
            <a:pPr algn="l">
              <a:lnSpc>
                <a:spcPts val="3379"/>
              </a:lnSpc>
            </a:pPr>
            <a:r>
              <a:rPr lang="en-US" sz="3200" spc="-213" dirty="0">
                <a:solidFill>
                  <a:srgbClr val="2D3621"/>
                </a:solidFill>
                <a:latin typeface="Courier Prime"/>
                <a:ea typeface="Courier Prime"/>
                <a:cs typeface="Courier Prime"/>
                <a:sym typeface="Courier Prime"/>
              </a:rPr>
              <a:t>uncle, now calls himself Stanley</a:t>
            </a:r>
          </a:p>
          <a:p>
            <a:pPr algn="l">
              <a:lnSpc>
                <a:spcPts val="3379"/>
              </a:lnSpc>
            </a:pPr>
            <a:r>
              <a:rPr lang="en-US" sz="3200" spc="-213" dirty="0">
                <a:solidFill>
                  <a:srgbClr val="2D3621"/>
                </a:solidFill>
                <a:latin typeface="Courier Prime"/>
                <a:ea typeface="Courier Prime"/>
                <a:cs typeface="Courier Prime"/>
                <a:sym typeface="Courier Prime"/>
              </a:rPr>
              <a:t>after he began </a:t>
            </a:r>
            <a:r>
              <a:rPr lang="en-US" sz="3200" spc="-213" dirty="0">
                <a:solidFill>
                  <a:srgbClr val="BC1010"/>
                </a:solidFill>
                <a:latin typeface="Courier Prime"/>
                <a:ea typeface="Courier Prime"/>
                <a:cs typeface="Courier Prime"/>
                <a:sym typeface="Courier Prime"/>
              </a:rPr>
              <a:t>wearing the clothes you sent him last Christmas.</a:t>
            </a:r>
          </a:p>
          <a:p>
            <a:pPr algn="l">
              <a:lnSpc>
                <a:spcPts val="3379"/>
              </a:lnSpc>
            </a:pPr>
            <a:endParaRPr lang="en-US" sz="3200" spc="-213" dirty="0">
              <a:solidFill>
                <a:srgbClr val="BC1010"/>
              </a:solidFill>
              <a:latin typeface="Courier Prime"/>
              <a:ea typeface="Courier Prime"/>
              <a:cs typeface="Courier Prime"/>
              <a:sym typeface="Courier Prim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a:extLst>
            <a:ext uri="{FF2B5EF4-FFF2-40B4-BE49-F238E27FC236}">
              <a16:creationId xmlns:a16="http://schemas.microsoft.com/office/drawing/2014/main" id="{5F2CAA80-DA86-212D-034E-A94256C8AAE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B25D6CC-9803-4B49-984E-BB364FAE4E22}"/>
              </a:ext>
            </a:extLst>
          </p:cNvPr>
          <p:cNvGrpSpPr/>
          <p:nvPr/>
        </p:nvGrpSpPr>
        <p:grpSpPr>
          <a:xfrm>
            <a:off x="0" y="0"/>
            <a:ext cx="8534400" cy="10287000"/>
            <a:chOff x="0" y="0"/>
            <a:chExt cx="1859270" cy="2709333"/>
          </a:xfrm>
        </p:grpSpPr>
        <p:sp>
          <p:nvSpPr>
            <p:cNvPr id="3" name="Freeform 3">
              <a:extLst>
                <a:ext uri="{FF2B5EF4-FFF2-40B4-BE49-F238E27FC236}">
                  <a16:creationId xmlns:a16="http://schemas.microsoft.com/office/drawing/2014/main" id="{B1AF20B7-A06A-8BA2-9588-2B256814FB57}"/>
                </a:ext>
              </a:extLst>
            </p:cNvPr>
            <p:cNvSpPr/>
            <p:nvPr/>
          </p:nvSpPr>
          <p:spPr>
            <a:xfrm>
              <a:off x="0" y="0"/>
              <a:ext cx="1859270" cy="2709333"/>
            </a:xfrm>
            <a:custGeom>
              <a:avLst/>
              <a:gdLst/>
              <a:ahLst/>
              <a:cxnLst/>
              <a:rect l="l" t="t" r="r" b="b"/>
              <a:pathLst>
                <a:path w="1859270" h="2709333">
                  <a:moveTo>
                    <a:pt x="0" y="0"/>
                  </a:moveTo>
                  <a:lnTo>
                    <a:pt x="1859270" y="0"/>
                  </a:lnTo>
                  <a:lnTo>
                    <a:pt x="1859270" y="2709333"/>
                  </a:lnTo>
                  <a:lnTo>
                    <a:pt x="0" y="2709333"/>
                  </a:lnTo>
                  <a:close/>
                </a:path>
              </a:pathLst>
            </a:custGeom>
            <a:solidFill>
              <a:srgbClr val="E8E3DB"/>
            </a:solidFill>
          </p:spPr>
        </p:sp>
        <p:sp>
          <p:nvSpPr>
            <p:cNvPr id="4" name="TextBox 4">
              <a:extLst>
                <a:ext uri="{FF2B5EF4-FFF2-40B4-BE49-F238E27FC236}">
                  <a16:creationId xmlns:a16="http://schemas.microsoft.com/office/drawing/2014/main" id="{ECFD005B-56C3-BD87-2BD7-99E870950250}"/>
                </a:ext>
              </a:extLst>
            </p:cNvPr>
            <p:cNvSpPr txBox="1"/>
            <p:nvPr/>
          </p:nvSpPr>
          <p:spPr>
            <a:xfrm>
              <a:off x="0" y="-38100"/>
              <a:ext cx="1859270" cy="2747433"/>
            </a:xfrm>
            <a:prstGeom prst="rect">
              <a:avLst/>
            </a:prstGeom>
          </p:spPr>
          <p:txBody>
            <a:bodyPr lIns="50800" tIns="50800" rIns="50800" bIns="50800" rtlCol="0" anchor="ctr"/>
            <a:lstStyle/>
            <a:p>
              <a:pPr algn="ctr">
                <a:lnSpc>
                  <a:spcPts val="2520"/>
                </a:lnSpc>
              </a:pPr>
              <a:endParaRPr/>
            </a:p>
          </p:txBody>
        </p:sp>
      </p:grpSp>
      <p:sp>
        <p:nvSpPr>
          <p:cNvPr id="6" name="TextBox 6">
            <a:extLst>
              <a:ext uri="{FF2B5EF4-FFF2-40B4-BE49-F238E27FC236}">
                <a16:creationId xmlns:a16="http://schemas.microsoft.com/office/drawing/2014/main" id="{CFFCED3A-76C5-0210-1E82-C781F4772B0E}"/>
              </a:ext>
            </a:extLst>
          </p:cNvPr>
          <p:cNvSpPr txBox="1"/>
          <p:nvPr/>
        </p:nvSpPr>
        <p:spPr>
          <a:xfrm>
            <a:off x="564524" y="401510"/>
            <a:ext cx="7405352" cy="10042493"/>
          </a:xfrm>
          <a:prstGeom prst="rect">
            <a:avLst/>
          </a:prstGeom>
        </p:spPr>
        <p:txBody>
          <a:bodyPr wrap="square" lIns="0" tIns="0" rIns="0" bIns="0" rtlCol="0" anchor="t">
            <a:spAutoFit/>
          </a:bodyPr>
          <a:lstStyle/>
          <a:p>
            <a:pPr algn="l">
              <a:lnSpc>
                <a:spcPts val="3379"/>
              </a:lnSpc>
            </a:pPr>
            <a:r>
              <a:rPr lang="en-US" sz="3200" spc="-213" dirty="0">
                <a:solidFill>
                  <a:srgbClr val="2D3621"/>
                </a:solidFill>
                <a:latin typeface="Courier Prime"/>
                <a:ea typeface="Courier Prime"/>
                <a:cs typeface="Courier Prime"/>
                <a:sym typeface="Courier Prime"/>
              </a:rPr>
              <a:t>Your cousin, Julia, has just become a whore.</a:t>
            </a:r>
          </a:p>
          <a:p>
            <a:pPr algn="l">
              <a:lnSpc>
                <a:spcPts val="3379"/>
              </a:lnSpc>
            </a:pPr>
            <a:r>
              <a:rPr lang="en-US" sz="3200" spc="-213" dirty="0">
                <a:solidFill>
                  <a:srgbClr val="2D3621"/>
                </a:solidFill>
                <a:latin typeface="Courier Prime"/>
                <a:ea typeface="Courier Prime"/>
                <a:cs typeface="Courier Prime"/>
                <a:sym typeface="Courier Prime"/>
              </a:rPr>
              <a:t>She liked </a:t>
            </a:r>
            <a:r>
              <a:rPr lang="en-US" sz="3200" spc="-213" dirty="0">
                <a:solidFill>
                  <a:srgbClr val="BC1010"/>
                </a:solidFill>
                <a:latin typeface="Courier Prime"/>
                <a:ea typeface="Courier Prime"/>
                <a:cs typeface="Courier Prime"/>
                <a:sym typeface="Courier Prime"/>
              </a:rPr>
              <a:t>good clothes, good food, big money.</a:t>
            </a:r>
          </a:p>
          <a:p>
            <a:pPr algn="l">
              <a:lnSpc>
                <a:spcPts val="3379"/>
              </a:lnSpc>
            </a:pPr>
            <a:r>
              <a:rPr lang="en-US" sz="3200" spc="-213" dirty="0">
                <a:solidFill>
                  <a:srgbClr val="2D3621"/>
                </a:solidFill>
                <a:latin typeface="Courier Prime"/>
                <a:ea typeface="Courier Prime"/>
                <a:cs typeface="Courier Prime"/>
                <a:sym typeface="Courier Prime"/>
              </a:rPr>
              <a:t>That's why she became a whore.</a:t>
            </a:r>
          </a:p>
          <a:p>
            <a:pPr algn="l">
              <a:lnSpc>
                <a:spcPts val="3379"/>
              </a:lnSpc>
            </a:pPr>
            <a:r>
              <a:rPr lang="en-US" sz="3200" spc="-213" dirty="0">
                <a:solidFill>
                  <a:srgbClr val="2D3621"/>
                </a:solidFill>
                <a:latin typeface="Courier Prime"/>
                <a:ea typeface="Courier Prime"/>
                <a:cs typeface="Courier Prime"/>
                <a:sym typeface="Courier Prime"/>
              </a:rPr>
              <a:t>Now our hometown has seven whores.</a:t>
            </a:r>
          </a:p>
          <a:p>
            <a:pPr algn="l">
              <a:lnSpc>
                <a:spcPts val="3379"/>
              </a:lnSpc>
            </a:pPr>
            <a:endParaRPr lang="en-US" sz="3200" spc="-213" dirty="0">
              <a:solidFill>
                <a:srgbClr val="2D3621"/>
              </a:solidFill>
              <a:latin typeface="Courier Prime"/>
              <a:ea typeface="Courier Prime"/>
              <a:cs typeface="Courier Prime"/>
              <a:sym typeface="Courier Prime"/>
            </a:endParaRPr>
          </a:p>
          <a:p>
            <a:pPr algn="l">
              <a:lnSpc>
                <a:spcPts val="3379"/>
              </a:lnSpc>
            </a:pPr>
            <a:r>
              <a:rPr lang="en-US" sz="3200" spc="-213" dirty="0">
                <a:solidFill>
                  <a:srgbClr val="2D3621"/>
                </a:solidFill>
                <a:latin typeface="Courier Prime"/>
                <a:ea typeface="Courier Prime"/>
                <a:cs typeface="Courier Prime"/>
                <a:sym typeface="Courier Prime"/>
              </a:rPr>
              <a:t>Pete, old friend,</a:t>
            </a:r>
          </a:p>
          <a:p>
            <a:pPr algn="l">
              <a:lnSpc>
                <a:spcPts val="3379"/>
              </a:lnSpc>
            </a:pPr>
            <a:r>
              <a:rPr lang="en-US" sz="3200" spc="-213" dirty="0">
                <a:solidFill>
                  <a:srgbClr val="2D3621"/>
                </a:solidFill>
                <a:latin typeface="Courier Prime"/>
                <a:ea typeface="Courier Prime"/>
                <a:cs typeface="Courier Prime"/>
                <a:sym typeface="Courier Prime"/>
              </a:rPr>
              <a:t>every time we have good reason to get drunk </a:t>
            </a:r>
          </a:p>
          <a:p>
            <a:pPr algn="l">
              <a:lnSpc>
                <a:spcPts val="3379"/>
              </a:lnSpc>
            </a:pPr>
            <a:r>
              <a:rPr lang="en-US" sz="3200" spc="-213" dirty="0">
                <a:solidFill>
                  <a:srgbClr val="2D3621"/>
                </a:solidFill>
                <a:latin typeface="Courier Prime"/>
                <a:ea typeface="Courier Prime"/>
                <a:cs typeface="Courier Prime"/>
                <a:sym typeface="Courier Prime"/>
              </a:rPr>
              <a:t>and be </a:t>
            </a:r>
            <a:r>
              <a:rPr lang="en-US" sz="3200" spc="-213" dirty="0">
                <a:solidFill>
                  <a:srgbClr val="BC1010"/>
                </a:solidFill>
                <a:latin typeface="Courier Prime"/>
                <a:ea typeface="Courier Prime"/>
                <a:cs typeface="Courier Prime"/>
                <a:sym typeface="Courier Prime"/>
              </a:rPr>
              <a:t>carried home in a wheelbarrow</a:t>
            </a:r>
          </a:p>
          <a:p>
            <a:pPr algn="l">
              <a:lnSpc>
                <a:spcPts val="3379"/>
              </a:lnSpc>
            </a:pPr>
            <a:r>
              <a:rPr lang="en-US" sz="3200" spc="-213" dirty="0">
                <a:solidFill>
                  <a:srgbClr val="2D3621"/>
                </a:solidFill>
                <a:latin typeface="Courier Prime"/>
                <a:ea typeface="Courier Prime"/>
                <a:cs typeface="Courier Prime"/>
                <a:sym typeface="Courier Prime"/>
              </a:rPr>
              <a:t>we always remember you. Oh, we miss</a:t>
            </a:r>
          </a:p>
          <a:p>
            <a:pPr algn="l">
              <a:lnSpc>
                <a:spcPts val="3379"/>
              </a:lnSpc>
            </a:pPr>
            <a:r>
              <a:rPr lang="en-US" sz="3200" spc="-213" dirty="0">
                <a:solidFill>
                  <a:srgbClr val="2D3621"/>
                </a:solidFill>
                <a:latin typeface="Courier Prime"/>
                <a:ea typeface="Courier Prime"/>
                <a:cs typeface="Courier Prime"/>
                <a:sym typeface="Courier Prime"/>
              </a:rPr>
              <a:t>both Pete and Pedro.</a:t>
            </a:r>
          </a:p>
          <a:p>
            <a:pPr algn="l">
              <a:lnSpc>
                <a:spcPts val="3379"/>
              </a:lnSpc>
            </a:pPr>
            <a:endParaRPr lang="en-US" sz="3200" spc="-213" dirty="0">
              <a:solidFill>
                <a:srgbClr val="2D3621"/>
              </a:solidFill>
              <a:latin typeface="Courier Prime"/>
              <a:ea typeface="Courier Prime"/>
              <a:cs typeface="Courier Prime"/>
              <a:sym typeface="Courier Prime"/>
            </a:endParaRPr>
          </a:p>
          <a:p>
            <a:pPr algn="l">
              <a:lnSpc>
                <a:spcPts val="3379"/>
              </a:lnSpc>
            </a:pPr>
            <a:r>
              <a:rPr lang="en-US" sz="3200" spc="-213" dirty="0">
                <a:solidFill>
                  <a:srgbClr val="2D3621"/>
                </a:solidFill>
                <a:latin typeface="Courier Prime"/>
                <a:ea typeface="Courier Prime"/>
                <a:cs typeface="Courier Prime"/>
                <a:sym typeface="Courier Prime"/>
              </a:rPr>
              <a:t>Remember us to your American wife,</a:t>
            </a:r>
          </a:p>
          <a:p>
            <a:pPr algn="l">
              <a:lnSpc>
                <a:spcPts val="3379"/>
              </a:lnSpc>
            </a:pPr>
            <a:r>
              <a:rPr lang="en-US" sz="3200" spc="-213" dirty="0">
                <a:solidFill>
                  <a:srgbClr val="2D3621"/>
                </a:solidFill>
                <a:latin typeface="Courier Prime"/>
                <a:ea typeface="Courier Prime"/>
                <a:cs typeface="Courier Prime"/>
                <a:sym typeface="Courier Prime"/>
              </a:rPr>
              <a:t>you lucky bastard. </a:t>
            </a:r>
            <a:r>
              <a:rPr lang="en-US" sz="3200" spc="-213" dirty="0" err="1">
                <a:solidFill>
                  <a:srgbClr val="2D3621"/>
                </a:solidFill>
                <a:latin typeface="Courier Prime"/>
                <a:ea typeface="Courier Prime"/>
                <a:cs typeface="Courier Prime"/>
                <a:sym typeface="Courier Prime"/>
              </a:rPr>
              <a:t>Islaw</a:t>
            </a:r>
            <a:r>
              <a:rPr lang="en-US" sz="3200" spc="-213" dirty="0">
                <a:solidFill>
                  <a:srgbClr val="2D3621"/>
                </a:solidFill>
                <a:latin typeface="Courier Prime"/>
                <a:ea typeface="Courier Prime"/>
                <a:cs typeface="Courier Prime"/>
                <a:sym typeface="Courier Prime"/>
              </a:rPr>
              <a:t>, your cock-eyed</a:t>
            </a:r>
          </a:p>
          <a:p>
            <a:pPr algn="l">
              <a:lnSpc>
                <a:spcPts val="3379"/>
              </a:lnSpc>
            </a:pPr>
            <a:r>
              <a:rPr lang="en-US" sz="3200" spc="-213" dirty="0">
                <a:solidFill>
                  <a:srgbClr val="2D3621"/>
                </a:solidFill>
                <a:latin typeface="Courier Prime"/>
                <a:ea typeface="Courier Prime"/>
                <a:cs typeface="Courier Prime"/>
                <a:sym typeface="Courier Prime"/>
              </a:rPr>
              <a:t>uncle, now calls himself Stanley</a:t>
            </a:r>
          </a:p>
          <a:p>
            <a:pPr algn="l">
              <a:lnSpc>
                <a:spcPts val="3379"/>
              </a:lnSpc>
            </a:pPr>
            <a:r>
              <a:rPr lang="en-US" sz="3200" spc="-213" dirty="0">
                <a:solidFill>
                  <a:srgbClr val="2D3621"/>
                </a:solidFill>
                <a:latin typeface="Courier Prime"/>
                <a:ea typeface="Courier Prime"/>
                <a:cs typeface="Courier Prime"/>
                <a:sym typeface="Courier Prime"/>
              </a:rPr>
              <a:t>after he began </a:t>
            </a:r>
            <a:r>
              <a:rPr lang="en-US" sz="3200" spc="-213" dirty="0">
                <a:solidFill>
                  <a:srgbClr val="BC1010"/>
                </a:solidFill>
                <a:latin typeface="Courier Prime"/>
                <a:ea typeface="Courier Prime"/>
                <a:cs typeface="Courier Prime"/>
                <a:sym typeface="Courier Prime"/>
              </a:rPr>
              <a:t>wearing the clothes you sent him last Christmas.</a:t>
            </a:r>
          </a:p>
          <a:p>
            <a:pPr algn="l">
              <a:lnSpc>
                <a:spcPts val="3379"/>
              </a:lnSpc>
            </a:pPr>
            <a:endParaRPr lang="en-US" sz="3200" spc="-213" dirty="0">
              <a:solidFill>
                <a:srgbClr val="BC1010"/>
              </a:solidFill>
              <a:latin typeface="Courier Prime"/>
              <a:ea typeface="Courier Prime"/>
              <a:cs typeface="Courier Prime"/>
              <a:sym typeface="Courier Prime"/>
            </a:endParaRPr>
          </a:p>
        </p:txBody>
      </p:sp>
      <p:sp>
        <p:nvSpPr>
          <p:cNvPr id="12" name="TextBox 11">
            <a:extLst>
              <a:ext uri="{FF2B5EF4-FFF2-40B4-BE49-F238E27FC236}">
                <a16:creationId xmlns:a16="http://schemas.microsoft.com/office/drawing/2014/main" id="{BD8C87B8-E5A6-36F0-2B45-DCCE10A0F81F}"/>
              </a:ext>
            </a:extLst>
          </p:cNvPr>
          <p:cNvSpPr txBox="1"/>
          <p:nvPr/>
        </p:nvSpPr>
        <p:spPr>
          <a:xfrm>
            <a:off x="9125755" y="1333500"/>
            <a:ext cx="8868177" cy="6399829"/>
          </a:xfrm>
          <a:prstGeom prst="rect">
            <a:avLst/>
          </a:prstGeom>
          <a:noFill/>
        </p:spPr>
        <p:txBody>
          <a:bodyPr wrap="square">
            <a:spAutoFit/>
          </a:bodyPr>
          <a:lstStyle/>
          <a:p>
            <a:pPr algn="l">
              <a:lnSpc>
                <a:spcPts val="3499"/>
              </a:lnSpc>
            </a:pPr>
            <a:r>
              <a:rPr lang="en-US" sz="3200" dirty="0">
                <a:solidFill>
                  <a:schemeClr val="accent2"/>
                </a:solidFill>
                <a:latin typeface="Courier Prime"/>
                <a:ea typeface="Courier Prime"/>
                <a:cs typeface="Courier Prime"/>
                <a:sym typeface="Courier Prime"/>
              </a:rPr>
              <a:t>Symbolism</a:t>
            </a:r>
          </a:p>
          <a:p>
            <a:pPr algn="l">
              <a:lnSpc>
                <a:spcPts val="3499"/>
              </a:lnSpc>
            </a:pPr>
            <a:endParaRPr lang="en-US" sz="3200" dirty="0">
              <a:solidFill>
                <a:srgbClr val="E8E3DB"/>
              </a:solidFill>
              <a:latin typeface="Courier Prime"/>
              <a:ea typeface="Courier Prime"/>
              <a:cs typeface="Courier Prime"/>
              <a:sym typeface="Courier Prime"/>
            </a:endParaRPr>
          </a:p>
          <a:p>
            <a:pPr algn="l">
              <a:lnSpc>
                <a:spcPts val="3499"/>
              </a:lnSpc>
            </a:pPr>
            <a:r>
              <a:rPr lang="en-US" sz="3200" dirty="0">
                <a:solidFill>
                  <a:srgbClr val="E8E3DB"/>
                </a:solidFill>
                <a:latin typeface="Courier Prime"/>
                <a:ea typeface="Courier Prime"/>
                <a:cs typeface="Courier Prime"/>
                <a:sym typeface="Courier Prime"/>
              </a:rPr>
              <a:t>Julia becoming a whore → Symbolizes moral compromise driven by desire for wealth and status.</a:t>
            </a:r>
          </a:p>
          <a:p>
            <a:pPr algn="l">
              <a:lnSpc>
                <a:spcPts val="1820"/>
              </a:lnSpc>
            </a:pPr>
            <a:endParaRPr lang="en-US" sz="3200" dirty="0">
              <a:solidFill>
                <a:srgbClr val="E8E3DB"/>
              </a:solidFill>
              <a:latin typeface="Courier Prime"/>
              <a:ea typeface="Courier Prime"/>
              <a:cs typeface="Courier Prime"/>
              <a:sym typeface="Courier Prime"/>
            </a:endParaRPr>
          </a:p>
          <a:p>
            <a:pPr algn="l">
              <a:lnSpc>
                <a:spcPts val="3499"/>
              </a:lnSpc>
            </a:pPr>
            <a:r>
              <a:rPr lang="en-US" sz="3200" dirty="0">
                <a:solidFill>
                  <a:srgbClr val="E8E3DB"/>
                </a:solidFill>
                <a:latin typeface="Courier Prime"/>
                <a:ea typeface="Courier Prime"/>
                <a:cs typeface="Courier Prime"/>
                <a:sym typeface="Courier Prime"/>
              </a:rPr>
              <a:t>Wheelbarrow → Symbolizes friendship, community, and shared experiences of excess or indulgence.</a:t>
            </a:r>
          </a:p>
          <a:p>
            <a:pPr algn="l">
              <a:lnSpc>
                <a:spcPts val="1820"/>
              </a:lnSpc>
            </a:pPr>
            <a:endParaRPr lang="en-US" sz="3200" dirty="0">
              <a:solidFill>
                <a:srgbClr val="E8E3DB"/>
              </a:solidFill>
              <a:latin typeface="Courier Prime"/>
              <a:ea typeface="Courier Prime"/>
              <a:cs typeface="Courier Prime"/>
              <a:sym typeface="Courier Prime"/>
            </a:endParaRPr>
          </a:p>
          <a:p>
            <a:pPr algn="l">
              <a:lnSpc>
                <a:spcPts val="3499"/>
              </a:lnSpc>
            </a:pPr>
            <a:r>
              <a:rPr lang="en-US" sz="3200" dirty="0">
                <a:solidFill>
                  <a:srgbClr val="E8E3DB"/>
                </a:solidFill>
                <a:latin typeface="Courier Prime"/>
                <a:ea typeface="Courier Prime"/>
                <a:cs typeface="Courier Prime"/>
                <a:sym typeface="Courier Prime"/>
              </a:rPr>
              <a:t>Clothes sent from America → Symbolizes social mobility, aspiration, and the influence of foreign wealth or culture.</a:t>
            </a:r>
          </a:p>
        </p:txBody>
      </p:sp>
    </p:spTree>
    <p:extLst>
      <p:ext uri="{BB962C8B-B14F-4D97-AF65-F5344CB8AC3E}">
        <p14:creationId xmlns:p14="http://schemas.microsoft.com/office/powerpoint/2010/main" val="2847270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3725994" y="3163245"/>
            <a:ext cx="10836013" cy="2866431"/>
          </a:xfrm>
          <a:prstGeom prst="rect">
            <a:avLst/>
          </a:prstGeom>
        </p:spPr>
        <p:txBody>
          <a:bodyPr lIns="0" tIns="0" rIns="0" bIns="0" rtlCol="0" anchor="t">
            <a:spAutoFit/>
          </a:bodyPr>
          <a:lstStyle/>
          <a:p>
            <a:pPr algn="l">
              <a:lnSpc>
                <a:spcPts val="17487"/>
              </a:lnSpc>
            </a:pPr>
            <a:r>
              <a:rPr lang="en-US" sz="19430" spc="-718">
                <a:solidFill>
                  <a:srgbClr val="E8E3DB"/>
                </a:solidFill>
                <a:latin typeface="TAN Harmoni"/>
                <a:ea typeface="TAN Harmoni"/>
                <a:cs typeface="TAN Harmoni"/>
                <a:sym typeface="TAN Harmoni"/>
              </a:rPr>
              <a:t>BIOGRAPHICAL</a:t>
            </a:r>
          </a:p>
        </p:txBody>
      </p:sp>
      <p:sp>
        <p:nvSpPr>
          <p:cNvPr id="5" name="TextBox 5"/>
          <p:cNvSpPr txBox="1"/>
          <p:nvPr/>
        </p:nvSpPr>
        <p:spPr>
          <a:xfrm>
            <a:off x="6146623" y="5339541"/>
            <a:ext cx="6253363" cy="2003307"/>
          </a:xfrm>
          <a:prstGeom prst="rect">
            <a:avLst/>
          </a:prstGeom>
        </p:spPr>
        <p:txBody>
          <a:bodyPr lIns="0" tIns="0" rIns="0" bIns="0" rtlCol="0" anchor="t">
            <a:spAutoFit/>
          </a:bodyPr>
          <a:lstStyle/>
          <a:p>
            <a:pPr algn="l">
              <a:lnSpc>
                <a:spcPts val="12187"/>
              </a:lnSpc>
            </a:pPr>
            <a:r>
              <a:rPr lang="en-US" sz="13542" spc="-501">
                <a:solidFill>
                  <a:srgbClr val="E8E3DB"/>
                </a:solidFill>
                <a:latin typeface="TAN Harmoni"/>
                <a:ea typeface="TAN Harmoni"/>
                <a:cs typeface="TAN Harmoni"/>
                <a:sym typeface="TAN Harmoni"/>
              </a:rPr>
              <a:t>APPROACH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Freeform 4"/>
          <p:cNvSpPr/>
          <p:nvPr/>
        </p:nvSpPr>
        <p:spPr>
          <a:xfrm flipH="1">
            <a:off x="11178996" y="1754112"/>
            <a:ext cx="5489557" cy="6740822"/>
          </a:xfrm>
          <a:custGeom>
            <a:avLst/>
            <a:gdLst/>
            <a:ahLst/>
            <a:cxnLst/>
            <a:rect l="l" t="t" r="r" b="b"/>
            <a:pathLst>
              <a:path w="5489557" h="6740822">
                <a:moveTo>
                  <a:pt x="5489557" y="0"/>
                </a:moveTo>
                <a:lnTo>
                  <a:pt x="0" y="0"/>
                </a:lnTo>
                <a:lnTo>
                  <a:pt x="0" y="6740823"/>
                </a:lnTo>
                <a:lnTo>
                  <a:pt x="5489557" y="6740823"/>
                </a:lnTo>
                <a:lnTo>
                  <a:pt x="5489557" y="0"/>
                </a:lnTo>
                <a:close/>
              </a:path>
            </a:pathLst>
          </a:custGeom>
          <a:blipFill>
            <a:blip r:embed="rId4"/>
            <a:stretch>
              <a:fillRect/>
            </a:stretch>
          </a:blipFill>
        </p:spPr>
      </p:sp>
      <p:sp>
        <p:nvSpPr>
          <p:cNvPr id="5" name="TextBox 5"/>
          <p:cNvSpPr txBox="1"/>
          <p:nvPr/>
        </p:nvSpPr>
        <p:spPr>
          <a:xfrm>
            <a:off x="1709779" y="1368068"/>
            <a:ext cx="6373050" cy="1158072"/>
          </a:xfrm>
          <a:prstGeom prst="rect">
            <a:avLst/>
          </a:prstGeom>
        </p:spPr>
        <p:txBody>
          <a:bodyPr lIns="0" tIns="0" rIns="0" bIns="0" rtlCol="0" anchor="t">
            <a:spAutoFit/>
          </a:bodyPr>
          <a:lstStyle/>
          <a:p>
            <a:pPr algn="l">
              <a:lnSpc>
                <a:spcPts val="7025"/>
              </a:lnSpc>
            </a:pPr>
            <a:r>
              <a:rPr lang="en-US" sz="7805" spc="-288">
                <a:solidFill>
                  <a:srgbClr val="2D3621"/>
                </a:solidFill>
                <a:latin typeface="TAN Harmoni"/>
                <a:ea typeface="TAN Harmoni"/>
                <a:cs typeface="TAN Harmoni"/>
                <a:sym typeface="TAN Harmoni"/>
              </a:rPr>
              <a:t>RENE ESTELLA AMPER</a:t>
            </a:r>
          </a:p>
        </p:txBody>
      </p:sp>
      <p:sp>
        <p:nvSpPr>
          <p:cNvPr id="6" name="TextBox 6"/>
          <p:cNvSpPr txBox="1"/>
          <p:nvPr/>
        </p:nvSpPr>
        <p:spPr>
          <a:xfrm>
            <a:off x="1709779" y="2526140"/>
            <a:ext cx="10253621" cy="2777683"/>
          </a:xfrm>
          <a:prstGeom prst="rect">
            <a:avLst/>
          </a:prstGeom>
        </p:spPr>
        <p:txBody>
          <a:bodyPr wrap="square" lIns="0" tIns="0" rIns="0" bIns="0" rtlCol="0" anchor="t">
            <a:spAutoFit/>
          </a:bodyPr>
          <a:lstStyle/>
          <a:p>
            <a:pPr algn="l">
              <a:lnSpc>
                <a:spcPts val="3639"/>
              </a:lnSpc>
            </a:pPr>
            <a:r>
              <a:rPr lang="en-US" sz="3200" dirty="0">
                <a:solidFill>
                  <a:srgbClr val="2D3621"/>
                </a:solidFill>
                <a:latin typeface="Courier Prime"/>
                <a:ea typeface="Courier Prime"/>
                <a:cs typeface="Courier Prime"/>
                <a:sym typeface="Courier Prime"/>
              </a:rPr>
              <a:t>• Born: October 18, 1940</a:t>
            </a:r>
          </a:p>
          <a:p>
            <a:pPr algn="l">
              <a:lnSpc>
                <a:spcPts val="3639"/>
              </a:lnSpc>
            </a:pPr>
            <a:r>
              <a:rPr lang="en-US" sz="3200" dirty="0">
                <a:solidFill>
                  <a:srgbClr val="2D3621"/>
                </a:solidFill>
                <a:latin typeface="Courier Prime"/>
                <a:ea typeface="Courier Prime"/>
                <a:cs typeface="Courier Prime"/>
                <a:sym typeface="Courier Prime"/>
              </a:rPr>
              <a:t>• Birthplace: </a:t>
            </a:r>
            <a:r>
              <a:rPr lang="en-US" sz="3200" dirty="0" err="1">
                <a:solidFill>
                  <a:srgbClr val="2D3621"/>
                </a:solidFill>
                <a:latin typeface="Courier Prime"/>
                <a:ea typeface="Courier Prime"/>
                <a:cs typeface="Courier Prime"/>
                <a:sym typeface="Courier Prime"/>
              </a:rPr>
              <a:t>Boljoon</a:t>
            </a:r>
            <a:r>
              <a:rPr lang="en-US" sz="3200" dirty="0">
                <a:solidFill>
                  <a:srgbClr val="2D3621"/>
                </a:solidFill>
                <a:latin typeface="Courier Prime"/>
                <a:ea typeface="Courier Prime"/>
                <a:cs typeface="Courier Prime"/>
                <a:sym typeface="Courier Prime"/>
              </a:rPr>
              <a:t>, Cebu, Philippines</a:t>
            </a:r>
          </a:p>
          <a:p>
            <a:pPr algn="l">
              <a:lnSpc>
                <a:spcPts val="3639"/>
              </a:lnSpc>
            </a:pPr>
            <a:r>
              <a:rPr lang="en-US" sz="3200" dirty="0">
                <a:solidFill>
                  <a:srgbClr val="2D3621"/>
                </a:solidFill>
                <a:latin typeface="Courier Prime"/>
                <a:ea typeface="Courier Prime"/>
                <a:cs typeface="Courier Prime"/>
                <a:sym typeface="Courier Prime"/>
              </a:rPr>
              <a:t>• Profession: Physician, poet, and public servant</a:t>
            </a:r>
          </a:p>
          <a:p>
            <a:pPr algn="l">
              <a:lnSpc>
                <a:spcPts val="3639"/>
              </a:lnSpc>
            </a:pPr>
            <a:r>
              <a:rPr lang="en-US" sz="3200" dirty="0">
                <a:solidFill>
                  <a:srgbClr val="2D3621"/>
                </a:solidFill>
                <a:latin typeface="Courier Prime"/>
                <a:ea typeface="Courier Prime"/>
                <a:cs typeface="Courier Prime"/>
                <a:sym typeface="Courier Prime"/>
              </a:rPr>
              <a:t>• He died in 2007 in the Philippines.</a:t>
            </a:r>
          </a:p>
          <a:p>
            <a:pPr algn="l">
              <a:lnSpc>
                <a:spcPts val="3639"/>
              </a:lnSpc>
            </a:pPr>
            <a:endParaRPr lang="en-US" sz="3200" dirty="0">
              <a:solidFill>
                <a:srgbClr val="2D3621"/>
              </a:solidFill>
              <a:latin typeface="Courier Prime"/>
              <a:ea typeface="Courier Prime"/>
              <a:cs typeface="Courier Prime"/>
              <a:sym typeface="Courier Prime"/>
            </a:endParaRPr>
          </a:p>
        </p:txBody>
      </p:sp>
      <p:sp>
        <p:nvSpPr>
          <p:cNvPr id="7" name="TextBox 7"/>
          <p:cNvSpPr txBox="1"/>
          <p:nvPr/>
        </p:nvSpPr>
        <p:spPr>
          <a:xfrm>
            <a:off x="1709779" y="5390054"/>
            <a:ext cx="6064045" cy="930126"/>
          </a:xfrm>
          <a:prstGeom prst="rect">
            <a:avLst/>
          </a:prstGeom>
        </p:spPr>
        <p:txBody>
          <a:bodyPr lIns="0" tIns="0" rIns="0" bIns="0" rtlCol="0" anchor="t">
            <a:spAutoFit/>
          </a:bodyPr>
          <a:lstStyle/>
          <a:p>
            <a:pPr algn="l">
              <a:lnSpc>
                <a:spcPts val="6684"/>
              </a:lnSpc>
            </a:pPr>
            <a:r>
              <a:rPr lang="en-US" sz="7427" spc="-274" dirty="0">
                <a:solidFill>
                  <a:srgbClr val="2D3621"/>
                </a:solidFill>
                <a:latin typeface="TAN Harmoni"/>
                <a:ea typeface="TAN Harmoni"/>
                <a:cs typeface="TAN Harmoni"/>
                <a:sym typeface="TAN Harmoni"/>
              </a:rPr>
              <a:t>BACKGROUND</a:t>
            </a:r>
          </a:p>
        </p:txBody>
      </p:sp>
      <p:sp>
        <p:nvSpPr>
          <p:cNvPr id="8" name="TextBox 8"/>
          <p:cNvSpPr txBox="1"/>
          <p:nvPr/>
        </p:nvSpPr>
        <p:spPr>
          <a:xfrm>
            <a:off x="1709779" y="6460558"/>
            <a:ext cx="9720221" cy="1854354"/>
          </a:xfrm>
          <a:prstGeom prst="rect">
            <a:avLst/>
          </a:prstGeom>
        </p:spPr>
        <p:txBody>
          <a:bodyPr wrap="square" lIns="0" tIns="0" rIns="0" bIns="0" rtlCol="0" anchor="t">
            <a:spAutoFit/>
          </a:bodyPr>
          <a:lstStyle/>
          <a:p>
            <a:pPr algn="l">
              <a:lnSpc>
                <a:spcPts val="3639"/>
              </a:lnSpc>
            </a:pPr>
            <a:r>
              <a:rPr lang="en-US" sz="3200" dirty="0">
                <a:solidFill>
                  <a:srgbClr val="2D3621"/>
                </a:solidFill>
                <a:latin typeface="Courier Prime"/>
                <a:ea typeface="Courier Prime"/>
                <a:cs typeface="Courier Prime"/>
                <a:sym typeface="Courier Prime"/>
              </a:rPr>
              <a:t>• Amper grew up in a simple Filipino </a:t>
            </a:r>
            <a:r>
              <a:rPr lang="en-US" sz="3200" dirty="0" err="1">
                <a:solidFill>
                  <a:srgbClr val="2D3621"/>
                </a:solidFill>
                <a:latin typeface="Courier Prime"/>
                <a:ea typeface="Courier Prime"/>
                <a:cs typeface="Courier Prime"/>
                <a:sym typeface="Courier Prime"/>
              </a:rPr>
              <a:t>family.His</a:t>
            </a:r>
            <a:r>
              <a:rPr lang="en-US" sz="3200" dirty="0">
                <a:solidFill>
                  <a:srgbClr val="2D3621"/>
                </a:solidFill>
                <a:latin typeface="Courier Prime"/>
                <a:ea typeface="Courier Prime"/>
                <a:cs typeface="Courier Prime"/>
                <a:sym typeface="Courier Prime"/>
              </a:rPr>
              <a:t> experiences growing up in the province and observing social changes influenced his writing.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a:extLst>
            <a:ext uri="{FF2B5EF4-FFF2-40B4-BE49-F238E27FC236}">
              <a16:creationId xmlns:a16="http://schemas.microsoft.com/office/drawing/2014/main" id="{AFA91A88-6FD4-128F-E5F5-82176002079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A2F7CB0-44F1-0642-1288-6A0C675BBEF7}"/>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a:extLst>
              <a:ext uri="{FF2B5EF4-FFF2-40B4-BE49-F238E27FC236}">
                <a16:creationId xmlns:a16="http://schemas.microsoft.com/office/drawing/2014/main" id="{D07397B3-4ACF-6E46-2818-5179A4EF648B}"/>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Freeform 4">
            <a:extLst>
              <a:ext uri="{FF2B5EF4-FFF2-40B4-BE49-F238E27FC236}">
                <a16:creationId xmlns:a16="http://schemas.microsoft.com/office/drawing/2014/main" id="{CF756734-A0F6-8F66-EDF7-9ADC55736A3E}"/>
              </a:ext>
            </a:extLst>
          </p:cNvPr>
          <p:cNvSpPr/>
          <p:nvPr/>
        </p:nvSpPr>
        <p:spPr>
          <a:xfrm flipH="1">
            <a:off x="11178996" y="1754112"/>
            <a:ext cx="5489557" cy="6740822"/>
          </a:xfrm>
          <a:custGeom>
            <a:avLst/>
            <a:gdLst/>
            <a:ahLst/>
            <a:cxnLst/>
            <a:rect l="l" t="t" r="r" b="b"/>
            <a:pathLst>
              <a:path w="5489557" h="6740822">
                <a:moveTo>
                  <a:pt x="5489557" y="0"/>
                </a:moveTo>
                <a:lnTo>
                  <a:pt x="0" y="0"/>
                </a:lnTo>
                <a:lnTo>
                  <a:pt x="0" y="6740823"/>
                </a:lnTo>
                <a:lnTo>
                  <a:pt x="5489557" y="6740823"/>
                </a:lnTo>
                <a:lnTo>
                  <a:pt x="5489557" y="0"/>
                </a:lnTo>
                <a:close/>
              </a:path>
            </a:pathLst>
          </a:custGeom>
          <a:blipFill>
            <a:blip r:embed="rId4"/>
            <a:stretch>
              <a:fillRect/>
            </a:stretch>
          </a:blipFill>
        </p:spPr>
      </p:sp>
      <p:sp>
        <p:nvSpPr>
          <p:cNvPr id="7" name="TextBox 7">
            <a:extLst>
              <a:ext uri="{FF2B5EF4-FFF2-40B4-BE49-F238E27FC236}">
                <a16:creationId xmlns:a16="http://schemas.microsoft.com/office/drawing/2014/main" id="{5BF94F90-AC0F-3DCD-A5D0-2A0D462ED99D}"/>
              </a:ext>
            </a:extLst>
          </p:cNvPr>
          <p:cNvSpPr txBox="1"/>
          <p:nvPr/>
        </p:nvSpPr>
        <p:spPr>
          <a:xfrm>
            <a:off x="1749125" y="5428474"/>
            <a:ext cx="7803813" cy="930126"/>
          </a:xfrm>
          <a:prstGeom prst="rect">
            <a:avLst/>
          </a:prstGeom>
        </p:spPr>
        <p:txBody>
          <a:bodyPr wrap="square" lIns="0" tIns="0" rIns="0" bIns="0" rtlCol="0" anchor="t">
            <a:spAutoFit/>
          </a:bodyPr>
          <a:lstStyle/>
          <a:p>
            <a:pPr algn="l">
              <a:lnSpc>
                <a:spcPts val="6684"/>
              </a:lnSpc>
            </a:pPr>
            <a:r>
              <a:rPr lang="en-US" sz="7427" spc="-274" dirty="0">
                <a:solidFill>
                  <a:srgbClr val="2D3621"/>
                </a:solidFill>
                <a:latin typeface="TAN Harmoni"/>
                <a:ea typeface="TAN Harmoni"/>
                <a:cs typeface="TAN Harmoni"/>
                <a:sym typeface="TAN Harmoni"/>
              </a:rPr>
              <a:t>CONNECTION TO HIS WORK</a:t>
            </a:r>
          </a:p>
        </p:txBody>
      </p:sp>
      <p:sp>
        <p:nvSpPr>
          <p:cNvPr id="8" name="TextBox 8">
            <a:extLst>
              <a:ext uri="{FF2B5EF4-FFF2-40B4-BE49-F238E27FC236}">
                <a16:creationId xmlns:a16="http://schemas.microsoft.com/office/drawing/2014/main" id="{143478D5-2F11-9148-326A-FF31FDD2D8CA}"/>
              </a:ext>
            </a:extLst>
          </p:cNvPr>
          <p:cNvSpPr txBox="1"/>
          <p:nvPr/>
        </p:nvSpPr>
        <p:spPr>
          <a:xfrm>
            <a:off x="1735173" y="2582650"/>
            <a:ext cx="9720221" cy="2308324"/>
          </a:xfrm>
          <a:prstGeom prst="rect">
            <a:avLst/>
          </a:prstGeom>
        </p:spPr>
        <p:txBody>
          <a:bodyPr wrap="square" lIns="0" tIns="0" rIns="0" bIns="0" rtlCol="0" anchor="t">
            <a:spAutoFit/>
          </a:bodyPr>
          <a:lstStyle/>
          <a:p>
            <a:pPr algn="l">
              <a:lnSpc>
                <a:spcPts val="3639"/>
              </a:lnSpc>
            </a:pPr>
            <a:r>
              <a:rPr lang="en-US" sz="3200" dirty="0">
                <a:solidFill>
                  <a:srgbClr val="2D3621"/>
                </a:solidFill>
                <a:latin typeface="Courier Prime"/>
                <a:ea typeface="Courier Prime"/>
                <a:cs typeface="Courier Prime"/>
                <a:sym typeface="Courier Prime"/>
              </a:rPr>
              <a:t>• Studied Philosophy at the University of San Carlos (1960)</a:t>
            </a:r>
          </a:p>
          <a:p>
            <a:pPr algn="l">
              <a:lnSpc>
                <a:spcPts val="3639"/>
              </a:lnSpc>
            </a:pPr>
            <a:r>
              <a:rPr lang="en-US" sz="3200" dirty="0">
                <a:solidFill>
                  <a:srgbClr val="2D3621"/>
                </a:solidFill>
                <a:latin typeface="Courier Prime"/>
                <a:ea typeface="Courier Prime"/>
                <a:cs typeface="Courier Prime"/>
                <a:sym typeface="Courier Prime"/>
              </a:rPr>
              <a:t>• Studied Medicine at South Western University (1962) </a:t>
            </a:r>
          </a:p>
          <a:p>
            <a:pPr algn="l">
              <a:lnSpc>
                <a:spcPts val="3639"/>
              </a:lnSpc>
            </a:pPr>
            <a:endParaRPr lang="en-US" sz="3200" dirty="0">
              <a:solidFill>
                <a:srgbClr val="2D3621"/>
              </a:solidFill>
              <a:latin typeface="Courier Prime"/>
              <a:ea typeface="Courier Prime"/>
              <a:cs typeface="Courier Prime"/>
              <a:sym typeface="Courier Prime"/>
            </a:endParaRPr>
          </a:p>
        </p:txBody>
      </p:sp>
      <p:sp>
        <p:nvSpPr>
          <p:cNvPr id="9" name="TextBox 5">
            <a:extLst>
              <a:ext uri="{FF2B5EF4-FFF2-40B4-BE49-F238E27FC236}">
                <a16:creationId xmlns:a16="http://schemas.microsoft.com/office/drawing/2014/main" id="{D57A23C3-6F01-6FE4-844F-7B68056CA64B}"/>
              </a:ext>
            </a:extLst>
          </p:cNvPr>
          <p:cNvSpPr txBox="1"/>
          <p:nvPr/>
        </p:nvSpPr>
        <p:spPr>
          <a:xfrm>
            <a:off x="1817307" y="6364503"/>
            <a:ext cx="8999947" cy="1392689"/>
          </a:xfrm>
          <a:prstGeom prst="rect">
            <a:avLst/>
          </a:prstGeom>
        </p:spPr>
        <p:txBody>
          <a:bodyPr wrap="square" lIns="0" tIns="0" rIns="0" bIns="0" rtlCol="0" anchor="t">
            <a:spAutoFit/>
          </a:bodyPr>
          <a:lstStyle/>
          <a:p>
            <a:pPr marL="457200" indent="-457200" algn="l">
              <a:lnSpc>
                <a:spcPts val="3639"/>
              </a:lnSpc>
              <a:buFont typeface="Arial" panose="020B0604020202020204" pitchFamily="34" charset="0"/>
              <a:buChar char="•"/>
            </a:pPr>
            <a:r>
              <a:rPr lang="en-US" sz="3200" dirty="0">
                <a:solidFill>
                  <a:srgbClr val="2D3621"/>
                </a:solidFill>
                <a:latin typeface="Courier Prime"/>
                <a:ea typeface="Courier Prime"/>
                <a:cs typeface="Courier Prime"/>
                <a:sym typeface="Courier Prime"/>
              </a:rPr>
              <a:t>Childhood memories</a:t>
            </a:r>
          </a:p>
          <a:p>
            <a:pPr marL="457200" indent="-457200" algn="l">
              <a:lnSpc>
                <a:spcPts val="3639"/>
              </a:lnSpc>
              <a:buFont typeface="Arial" panose="020B0604020202020204" pitchFamily="34" charset="0"/>
              <a:buChar char="•"/>
            </a:pPr>
            <a:r>
              <a:rPr lang="en-US" sz="3200" dirty="0">
                <a:solidFill>
                  <a:srgbClr val="2D3621"/>
                </a:solidFill>
                <a:latin typeface="Courier Prime"/>
                <a:ea typeface="Courier Prime"/>
                <a:cs typeface="Courier Prime"/>
                <a:sym typeface="Courier Prime"/>
              </a:rPr>
              <a:t>Changes in society </a:t>
            </a:r>
          </a:p>
          <a:p>
            <a:pPr marL="457200" indent="-457200" algn="l">
              <a:lnSpc>
                <a:spcPts val="3639"/>
              </a:lnSpc>
              <a:buFont typeface="Arial" panose="020B0604020202020204" pitchFamily="34" charset="0"/>
              <a:buChar char="•"/>
            </a:pPr>
            <a:r>
              <a:rPr lang="en-US" sz="3200" dirty="0">
                <a:solidFill>
                  <a:srgbClr val="2D3621"/>
                </a:solidFill>
                <a:latin typeface="Courier Prime"/>
                <a:ea typeface="Courier Prime"/>
                <a:cs typeface="Courier Prime"/>
                <a:sym typeface="Courier Prime"/>
              </a:rPr>
              <a:t>Poverty and inequality</a:t>
            </a:r>
          </a:p>
        </p:txBody>
      </p:sp>
      <p:sp>
        <p:nvSpPr>
          <p:cNvPr id="10" name="TextBox 7">
            <a:extLst>
              <a:ext uri="{FF2B5EF4-FFF2-40B4-BE49-F238E27FC236}">
                <a16:creationId xmlns:a16="http://schemas.microsoft.com/office/drawing/2014/main" id="{404C104E-82FD-46DD-973E-607CB7F29CF0}"/>
              </a:ext>
            </a:extLst>
          </p:cNvPr>
          <p:cNvSpPr txBox="1"/>
          <p:nvPr/>
        </p:nvSpPr>
        <p:spPr>
          <a:xfrm>
            <a:off x="1754491" y="1539971"/>
            <a:ext cx="6064045" cy="1100536"/>
          </a:xfrm>
          <a:prstGeom prst="rect">
            <a:avLst/>
          </a:prstGeom>
        </p:spPr>
        <p:txBody>
          <a:bodyPr lIns="0" tIns="0" rIns="0" bIns="0" rtlCol="0" anchor="t">
            <a:spAutoFit/>
          </a:bodyPr>
          <a:lstStyle/>
          <a:p>
            <a:pPr algn="l">
              <a:lnSpc>
                <a:spcPts val="6684"/>
              </a:lnSpc>
            </a:pPr>
            <a:r>
              <a:rPr lang="en-US" sz="7427" spc="-274" dirty="0">
                <a:solidFill>
                  <a:srgbClr val="2D3621"/>
                </a:solidFill>
                <a:latin typeface="TAN Harmoni"/>
                <a:ea typeface="TAN Harmoni"/>
                <a:cs typeface="TAN Harmoni"/>
                <a:sym typeface="TAN Harmoni"/>
              </a:rPr>
              <a:t>EDUCATION</a:t>
            </a:r>
          </a:p>
        </p:txBody>
      </p:sp>
    </p:spTree>
    <p:extLst>
      <p:ext uri="{BB962C8B-B14F-4D97-AF65-F5344CB8AC3E}">
        <p14:creationId xmlns:p14="http://schemas.microsoft.com/office/powerpoint/2010/main" val="310685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a:extLst>
            <a:ext uri="{FF2B5EF4-FFF2-40B4-BE49-F238E27FC236}">
              <a16:creationId xmlns:a16="http://schemas.microsoft.com/office/drawing/2014/main" id="{44D736FE-5BF4-8FC6-5749-719A441005E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F0CBDD3-BB60-A3D8-FF50-C9EE50637D79}"/>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a:extLst>
              <a:ext uri="{FF2B5EF4-FFF2-40B4-BE49-F238E27FC236}">
                <a16:creationId xmlns:a16="http://schemas.microsoft.com/office/drawing/2014/main" id="{EE1BA9C1-8DBB-6392-EF8D-AB949D887C80}"/>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a:extLst>
              <a:ext uri="{FF2B5EF4-FFF2-40B4-BE49-F238E27FC236}">
                <a16:creationId xmlns:a16="http://schemas.microsoft.com/office/drawing/2014/main" id="{F561C04E-7241-4E54-ABDC-3E5A02310F30}"/>
              </a:ext>
            </a:extLst>
          </p:cNvPr>
          <p:cNvSpPr txBox="1"/>
          <p:nvPr/>
        </p:nvSpPr>
        <p:spPr>
          <a:xfrm>
            <a:off x="1455566" y="1504951"/>
            <a:ext cx="10275898" cy="1113697"/>
          </a:xfrm>
          <a:prstGeom prst="rect">
            <a:avLst/>
          </a:prstGeom>
        </p:spPr>
        <p:txBody>
          <a:bodyPr lIns="0" tIns="0" rIns="0" bIns="0" rtlCol="0" anchor="t">
            <a:spAutoFit/>
          </a:bodyPr>
          <a:lstStyle/>
          <a:p>
            <a:pPr algn="l">
              <a:lnSpc>
                <a:spcPts val="6762"/>
              </a:lnSpc>
            </a:pPr>
            <a:r>
              <a:rPr lang="en-US" sz="7513" spc="-278">
                <a:solidFill>
                  <a:srgbClr val="2D3621"/>
                </a:solidFill>
                <a:latin typeface="TAN Harmoni"/>
                <a:ea typeface="TAN Harmoni"/>
                <a:cs typeface="TAN Harmoni"/>
                <a:sym typeface="TAN Harmoni"/>
              </a:rPr>
              <a:t>CAREER AND ACHIEVEMENTS</a:t>
            </a:r>
          </a:p>
        </p:txBody>
      </p:sp>
      <p:sp>
        <p:nvSpPr>
          <p:cNvPr id="5" name="TextBox 5">
            <a:extLst>
              <a:ext uri="{FF2B5EF4-FFF2-40B4-BE49-F238E27FC236}">
                <a16:creationId xmlns:a16="http://schemas.microsoft.com/office/drawing/2014/main" id="{88EE7E3A-DB64-BE66-4126-D5D9B2AC0C99}"/>
              </a:ext>
            </a:extLst>
          </p:cNvPr>
          <p:cNvSpPr txBox="1"/>
          <p:nvPr/>
        </p:nvSpPr>
        <p:spPr>
          <a:xfrm>
            <a:off x="1479515" y="2439854"/>
            <a:ext cx="8999947" cy="7394332"/>
          </a:xfrm>
          <a:prstGeom prst="rect">
            <a:avLst/>
          </a:prstGeom>
        </p:spPr>
        <p:txBody>
          <a:bodyPr wrap="square" lIns="0" tIns="0" rIns="0" bIns="0" rtlCol="0" anchor="t">
            <a:spAutoFit/>
          </a:bodyPr>
          <a:lstStyle/>
          <a:p>
            <a:pPr algn="l">
              <a:lnSpc>
                <a:spcPts val="3639"/>
              </a:lnSpc>
            </a:pPr>
            <a:r>
              <a:rPr lang="en-US" sz="3200" dirty="0">
                <a:solidFill>
                  <a:srgbClr val="2D3621"/>
                </a:solidFill>
                <a:latin typeface="Courier Prime"/>
                <a:ea typeface="Courier Prime"/>
                <a:cs typeface="Courier Prime"/>
                <a:sym typeface="Courier Prime"/>
              </a:rPr>
              <a:t>• Participated in the Silliman University Summer Writers Workshop in the late 1960s.</a:t>
            </a:r>
          </a:p>
          <a:p>
            <a:pPr algn="l">
              <a:lnSpc>
                <a:spcPts val="3639"/>
              </a:lnSpc>
            </a:pPr>
            <a:endParaRPr lang="en-US" sz="3200" dirty="0">
              <a:solidFill>
                <a:srgbClr val="2D3621"/>
              </a:solidFill>
              <a:latin typeface="Courier Prime"/>
              <a:ea typeface="Courier Prime"/>
              <a:cs typeface="Courier Prime"/>
              <a:sym typeface="Courier Prime"/>
            </a:endParaRPr>
          </a:p>
          <a:p>
            <a:pPr algn="l">
              <a:lnSpc>
                <a:spcPts val="3639"/>
              </a:lnSpc>
            </a:pPr>
            <a:r>
              <a:rPr lang="en-US" sz="3200" dirty="0">
                <a:solidFill>
                  <a:srgbClr val="2D3621"/>
                </a:solidFill>
                <a:latin typeface="Courier Prime"/>
                <a:ea typeface="Courier Prime"/>
                <a:cs typeface="Courier Prime"/>
                <a:sym typeface="Courier Prime"/>
              </a:rPr>
              <a:t>• His poetry collection “All Else is Grass” won Second Prize in the Carlos Palanca Memorial Awards for Literature (1989).</a:t>
            </a:r>
          </a:p>
          <a:p>
            <a:pPr algn="l">
              <a:lnSpc>
                <a:spcPts val="3639"/>
              </a:lnSpc>
            </a:pPr>
            <a:endParaRPr lang="en-US" sz="3200" dirty="0">
              <a:solidFill>
                <a:srgbClr val="2D3621"/>
              </a:solidFill>
              <a:latin typeface="Courier Prime"/>
              <a:ea typeface="Courier Prime"/>
              <a:cs typeface="Courier Prime"/>
              <a:sym typeface="Courier Prime"/>
            </a:endParaRPr>
          </a:p>
          <a:p>
            <a:pPr algn="l">
              <a:lnSpc>
                <a:spcPts val="3639"/>
              </a:lnSpc>
            </a:pPr>
            <a:r>
              <a:rPr lang="en-US" sz="3200" dirty="0">
                <a:solidFill>
                  <a:srgbClr val="2D3621"/>
                </a:solidFill>
                <a:latin typeface="Courier Prime"/>
                <a:ea typeface="Courier Prime"/>
                <a:cs typeface="Courier Prime"/>
                <a:sym typeface="Courier Prime"/>
              </a:rPr>
              <a:t>• He wrote poetry in English and Cebuano.</a:t>
            </a:r>
          </a:p>
          <a:p>
            <a:pPr algn="l">
              <a:lnSpc>
                <a:spcPts val="3639"/>
              </a:lnSpc>
            </a:pPr>
            <a:endParaRPr lang="en-US" sz="3200" dirty="0">
              <a:solidFill>
                <a:srgbClr val="2D3621"/>
              </a:solidFill>
              <a:latin typeface="Courier Prime"/>
              <a:ea typeface="Courier Prime"/>
              <a:cs typeface="Courier Prime"/>
              <a:sym typeface="Courier Prime"/>
            </a:endParaRPr>
          </a:p>
          <a:p>
            <a:pPr algn="l">
              <a:lnSpc>
                <a:spcPts val="3639"/>
              </a:lnSpc>
            </a:pPr>
            <a:r>
              <a:rPr lang="en-US" sz="3200" dirty="0">
                <a:solidFill>
                  <a:srgbClr val="2D3621"/>
                </a:solidFill>
                <a:latin typeface="Courier Prime"/>
                <a:ea typeface="Courier Prime"/>
                <a:cs typeface="Courier Prime"/>
                <a:sym typeface="Courier Prime"/>
              </a:rPr>
              <a:t>• Aside from writing, he also worked as a doctor and public official in </a:t>
            </a:r>
            <a:r>
              <a:rPr lang="en-US" sz="3200" dirty="0" err="1">
                <a:solidFill>
                  <a:srgbClr val="2D3621"/>
                </a:solidFill>
                <a:latin typeface="Courier Prime"/>
                <a:ea typeface="Courier Prime"/>
                <a:cs typeface="Courier Prime"/>
                <a:sym typeface="Courier Prime"/>
              </a:rPr>
              <a:t>Boljoon</a:t>
            </a:r>
            <a:r>
              <a:rPr lang="en-US" sz="3200" dirty="0">
                <a:solidFill>
                  <a:srgbClr val="2D3621"/>
                </a:solidFill>
                <a:latin typeface="Courier Prime"/>
                <a:ea typeface="Courier Prime"/>
                <a:cs typeface="Courier Prime"/>
                <a:sym typeface="Courier Prime"/>
              </a:rPr>
              <a:t>, Cebu.</a:t>
            </a:r>
          </a:p>
          <a:p>
            <a:pPr algn="l">
              <a:lnSpc>
                <a:spcPts val="3639"/>
              </a:lnSpc>
            </a:pPr>
            <a:endParaRPr lang="en-US" sz="3200" dirty="0">
              <a:solidFill>
                <a:srgbClr val="2D3621"/>
              </a:solidFill>
              <a:latin typeface="Courier Prime"/>
              <a:ea typeface="Courier Prime"/>
              <a:cs typeface="Courier Prime"/>
              <a:sym typeface="Courier Prime"/>
            </a:endParaRPr>
          </a:p>
        </p:txBody>
      </p:sp>
      <p:sp>
        <p:nvSpPr>
          <p:cNvPr id="6" name="TextBox 6">
            <a:extLst>
              <a:ext uri="{FF2B5EF4-FFF2-40B4-BE49-F238E27FC236}">
                <a16:creationId xmlns:a16="http://schemas.microsoft.com/office/drawing/2014/main" id="{0ACA29E6-5478-06AD-237A-6F5EFD61B07C}"/>
              </a:ext>
            </a:extLst>
          </p:cNvPr>
          <p:cNvSpPr txBox="1"/>
          <p:nvPr/>
        </p:nvSpPr>
        <p:spPr>
          <a:xfrm>
            <a:off x="10744200" y="1504950"/>
            <a:ext cx="10275898" cy="1113697"/>
          </a:xfrm>
          <a:prstGeom prst="rect">
            <a:avLst/>
          </a:prstGeom>
        </p:spPr>
        <p:txBody>
          <a:bodyPr lIns="0" tIns="0" rIns="0" bIns="0" rtlCol="0" anchor="t">
            <a:spAutoFit/>
          </a:bodyPr>
          <a:lstStyle/>
          <a:p>
            <a:pPr algn="l">
              <a:lnSpc>
                <a:spcPts val="6762"/>
              </a:lnSpc>
            </a:pPr>
            <a:r>
              <a:rPr lang="en-US" sz="7513" spc="-278" dirty="0">
                <a:solidFill>
                  <a:srgbClr val="2D3621"/>
                </a:solidFill>
                <a:latin typeface="TAN Harmoni"/>
                <a:ea typeface="TAN Harmoni"/>
                <a:cs typeface="TAN Harmoni"/>
                <a:sym typeface="TAN Harmoni"/>
              </a:rPr>
              <a:t>KNOWN WORKS</a:t>
            </a:r>
          </a:p>
        </p:txBody>
      </p:sp>
      <p:sp>
        <p:nvSpPr>
          <p:cNvPr id="7" name="TextBox 7">
            <a:extLst>
              <a:ext uri="{FF2B5EF4-FFF2-40B4-BE49-F238E27FC236}">
                <a16:creationId xmlns:a16="http://schemas.microsoft.com/office/drawing/2014/main" id="{2DFE7BCD-21B1-1027-AAEB-64015E9B5CA9}"/>
              </a:ext>
            </a:extLst>
          </p:cNvPr>
          <p:cNvSpPr txBox="1"/>
          <p:nvPr/>
        </p:nvSpPr>
        <p:spPr>
          <a:xfrm>
            <a:off x="10744200" y="2439854"/>
            <a:ext cx="6652030" cy="2769989"/>
          </a:xfrm>
          <a:prstGeom prst="rect">
            <a:avLst/>
          </a:prstGeom>
        </p:spPr>
        <p:txBody>
          <a:bodyPr lIns="0" tIns="0" rIns="0" bIns="0" rtlCol="0" anchor="t">
            <a:spAutoFit/>
          </a:bodyPr>
          <a:lstStyle/>
          <a:p>
            <a:pPr algn="l">
              <a:lnSpc>
                <a:spcPts val="3639"/>
              </a:lnSpc>
            </a:pPr>
            <a:r>
              <a:rPr lang="en-US" sz="3200" dirty="0">
                <a:solidFill>
                  <a:srgbClr val="2D3621"/>
                </a:solidFill>
                <a:latin typeface="Courier Prime"/>
                <a:ea typeface="Courier Prime"/>
                <a:cs typeface="Courier Prime"/>
                <a:sym typeface="Courier Prime"/>
              </a:rPr>
              <a:t>• Letter to Pedro, U.S. Citizen, Also Called Pete</a:t>
            </a:r>
          </a:p>
          <a:p>
            <a:pPr algn="l">
              <a:lnSpc>
                <a:spcPts val="3639"/>
              </a:lnSpc>
            </a:pPr>
            <a:r>
              <a:rPr lang="en-US" sz="3200" dirty="0">
                <a:solidFill>
                  <a:srgbClr val="2D3621"/>
                </a:solidFill>
                <a:latin typeface="Courier Prime"/>
                <a:ea typeface="Courier Prime"/>
                <a:cs typeface="Courier Prime"/>
                <a:sym typeface="Courier Prime"/>
              </a:rPr>
              <a:t>• Twelve Palmas (1969)</a:t>
            </a:r>
          </a:p>
          <a:p>
            <a:pPr algn="l">
              <a:lnSpc>
                <a:spcPts val="3639"/>
              </a:lnSpc>
            </a:pPr>
            <a:r>
              <a:rPr lang="en-US" sz="3200" dirty="0">
                <a:solidFill>
                  <a:srgbClr val="2D3621"/>
                </a:solidFill>
                <a:latin typeface="Courier Prime"/>
                <a:ea typeface="Courier Prime"/>
                <a:cs typeface="Courier Prime"/>
                <a:sym typeface="Courier Prime"/>
              </a:rPr>
              <a:t>• Collected Palmas (1990)</a:t>
            </a:r>
          </a:p>
          <a:p>
            <a:pPr algn="l">
              <a:lnSpc>
                <a:spcPts val="3639"/>
              </a:lnSpc>
            </a:pPr>
            <a:r>
              <a:rPr lang="en-US" sz="3200" dirty="0">
                <a:solidFill>
                  <a:srgbClr val="2D3621"/>
                </a:solidFill>
                <a:latin typeface="Courier Prime"/>
                <a:ea typeface="Courier Prime"/>
                <a:cs typeface="Courier Prime"/>
                <a:sym typeface="Courier Prime"/>
              </a:rPr>
              <a:t>• All Else is Grass</a:t>
            </a:r>
          </a:p>
          <a:p>
            <a:pPr algn="l">
              <a:lnSpc>
                <a:spcPts val="3639"/>
              </a:lnSpc>
            </a:pPr>
            <a:endParaRPr lang="en-US" sz="3200" dirty="0">
              <a:solidFill>
                <a:srgbClr val="2D3621"/>
              </a:solidFill>
              <a:latin typeface="Courier Prime"/>
              <a:ea typeface="Courier Prime"/>
              <a:cs typeface="Courier Prime"/>
              <a:sym typeface="Courier Prime"/>
            </a:endParaRPr>
          </a:p>
        </p:txBody>
      </p:sp>
    </p:spTree>
    <p:extLst>
      <p:ext uri="{BB962C8B-B14F-4D97-AF65-F5344CB8AC3E}">
        <p14:creationId xmlns:p14="http://schemas.microsoft.com/office/powerpoint/2010/main" val="2103048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4787213" y="3189871"/>
            <a:ext cx="8972183" cy="2866431"/>
          </a:xfrm>
          <a:prstGeom prst="rect">
            <a:avLst/>
          </a:prstGeom>
        </p:spPr>
        <p:txBody>
          <a:bodyPr lIns="0" tIns="0" rIns="0" bIns="0" rtlCol="0" anchor="t">
            <a:spAutoFit/>
          </a:bodyPr>
          <a:lstStyle/>
          <a:p>
            <a:pPr algn="l">
              <a:lnSpc>
                <a:spcPts val="17487"/>
              </a:lnSpc>
            </a:pPr>
            <a:r>
              <a:rPr lang="en-US" sz="19430" spc="-718">
                <a:solidFill>
                  <a:srgbClr val="E8E3DB"/>
                </a:solidFill>
                <a:latin typeface="TAN Harmoni"/>
                <a:ea typeface="TAN Harmoni"/>
                <a:cs typeface="TAN Harmoni"/>
                <a:sym typeface="TAN Harmoni"/>
              </a:rPr>
              <a:t>HISTORICAL</a:t>
            </a:r>
          </a:p>
        </p:txBody>
      </p:sp>
      <p:sp>
        <p:nvSpPr>
          <p:cNvPr id="5" name="TextBox 5"/>
          <p:cNvSpPr txBox="1"/>
          <p:nvPr/>
        </p:nvSpPr>
        <p:spPr>
          <a:xfrm>
            <a:off x="6146623" y="5339541"/>
            <a:ext cx="6253363" cy="2003307"/>
          </a:xfrm>
          <a:prstGeom prst="rect">
            <a:avLst/>
          </a:prstGeom>
        </p:spPr>
        <p:txBody>
          <a:bodyPr lIns="0" tIns="0" rIns="0" bIns="0" rtlCol="0" anchor="t">
            <a:spAutoFit/>
          </a:bodyPr>
          <a:lstStyle/>
          <a:p>
            <a:pPr algn="l">
              <a:lnSpc>
                <a:spcPts val="12187"/>
              </a:lnSpc>
            </a:pPr>
            <a:r>
              <a:rPr lang="en-US" sz="13542" spc="-501">
                <a:solidFill>
                  <a:srgbClr val="E8E3DB"/>
                </a:solidFill>
                <a:latin typeface="TAN Harmoni"/>
                <a:ea typeface="TAN Harmoni"/>
                <a:cs typeface="TAN Harmoni"/>
                <a:sym typeface="TAN Harmoni"/>
              </a:rPr>
              <a:t>APPROACH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5" name="TextBox 5"/>
          <p:cNvSpPr txBox="1"/>
          <p:nvPr/>
        </p:nvSpPr>
        <p:spPr>
          <a:xfrm>
            <a:off x="1690044" y="3086526"/>
            <a:ext cx="15035896" cy="4113947"/>
          </a:xfrm>
          <a:prstGeom prst="rect">
            <a:avLst/>
          </a:prstGeom>
        </p:spPr>
        <p:txBody>
          <a:bodyPr wrap="square" lIns="0" tIns="0" rIns="0" bIns="0" rtlCol="0" anchor="t">
            <a:spAutoFit/>
          </a:bodyPr>
          <a:lstStyle/>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The Era of Martial Law: The poem was written during the early years of Martial Law in the Philippines (declared in 1970’s).</a:t>
            </a:r>
          </a:p>
          <a:p>
            <a:pPr marL="611855" lvl="1" indent="-305928" algn="l">
              <a:lnSpc>
                <a:spcPts val="3967"/>
              </a:lnSpc>
              <a:buFont typeface="Arial"/>
              <a:buChar char="•"/>
            </a:pPr>
            <a:endParaRPr lang="en-US" sz="3600" dirty="0">
              <a:solidFill>
                <a:srgbClr val="2D3621"/>
              </a:solidFill>
              <a:latin typeface="Courier Prime"/>
              <a:ea typeface="Courier Prime"/>
              <a:cs typeface="Courier Prime"/>
              <a:sym typeface="Courier Prime"/>
            </a:endParaRPr>
          </a:p>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The Writer’s Perspective: Amper captures the difficult reality of Filipinos who had to choose between staying in their own country or seeking stability in the U.S.</a:t>
            </a:r>
            <a:endParaRPr lang="en-US" dirty="0">
              <a:solidFill>
                <a:srgbClr val="2D3621"/>
              </a:solidFill>
              <a:latin typeface="Courier Prime"/>
              <a:ea typeface="Courier Prime"/>
              <a:cs typeface="Courier Prime"/>
              <a:sym typeface="Courier Prime"/>
            </a:endParaRPr>
          </a:p>
        </p:txBody>
      </p:sp>
      <p:sp>
        <p:nvSpPr>
          <p:cNvPr id="6" name="TextBox 4">
            <a:extLst>
              <a:ext uri="{FF2B5EF4-FFF2-40B4-BE49-F238E27FC236}">
                <a16:creationId xmlns:a16="http://schemas.microsoft.com/office/drawing/2014/main" id="{7B14142B-C173-9CB8-0C79-B562C3AEA472}"/>
              </a:ext>
            </a:extLst>
          </p:cNvPr>
          <p:cNvSpPr txBox="1"/>
          <p:nvPr/>
        </p:nvSpPr>
        <p:spPr>
          <a:xfrm>
            <a:off x="1981200" y="1714500"/>
            <a:ext cx="18554474" cy="943015"/>
          </a:xfrm>
          <a:prstGeom prst="rect">
            <a:avLst/>
          </a:prstGeom>
        </p:spPr>
        <p:txBody>
          <a:bodyPr lIns="0" tIns="0" rIns="0" bIns="0" rtlCol="0" anchor="t">
            <a:spAutoFit/>
          </a:bodyPr>
          <a:lstStyle/>
          <a:p>
            <a:pPr algn="l">
              <a:lnSpc>
                <a:spcPts val="6762"/>
              </a:lnSpc>
            </a:pPr>
            <a:r>
              <a:rPr lang="en-US" sz="7513" spc="-278" dirty="0">
                <a:solidFill>
                  <a:srgbClr val="2D3621"/>
                </a:solidFill>
                <a:latin typeface="TAN Harmoni"/>
                <a:ea typeface="TAN Harmoni"/>
                <a:cs typeface="TAN Harmoni"/>
                <a:sym typeface="TAN Harmoni"/>
              </a:rPr>
              <a:t>WHAT WAS HAPPENING THAT TIME?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a:extLst>
            <a:ext uri="{FF2B5EF4-FFF2-40B4-BE49-F238E27FC236}">
              <a16:creationId xmlns:a16="http://schemas.microsoft.com/office/drawing/2014/main" id="{96354D6C-47DF-4FB1-D6BC-820A5DF6950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43659-A37B-DCEF-1612-CA4C37454174}"/>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a:extLst>
              <a:ext uri="{FF2B5EF4-FFF2-40B4-BE49-F238E27FC236}">
                <a16:creationId xmlns:a16="http://schemas.microsoft.com/office/drawing/2014/main" id="{BEB4B942-BE04-1E41-1ED8-7392054C12BA}"/>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5" name="TextBox 5">
            <a:extLst>
              <a:ext uri="{FF2B5EF4-FFF2-40B4-BE49-F238E27FC236}">
                <a16:creationId xmlns:a16="http://schemas.microsoft.com/office/drawing/2014/main" id="{E938F992-E6E6-E8E5-71BE-B53A1A593964}"/>
              </a:ext>
            </a:extLst>
          </p:cNvPr>
          <p:cNvSpPr txBox="1"/>
          <p:nvPr/>
        </p:nvSpPr>
        <p:spPr>
          <a:xfrm>
            <a:off x="1705284" y="3771900"/>
            <a:ext cx="15035896" cy="4044697"/>
          </a:xfrm>
          <a:prstGeom prst="rect">
            <a:avLst/>
          </a:prstGeom>
        </p:spPr>
        <p:txBody>
          <a:bodyPr wrap="square" lIns="0" tIns="0" rIns="0" bIns="0" rtlCol="0" anchor="t">
            <a:spAutoFit/>
          </a:bodyPr>
          <a:lstStyle/>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The story reflects the time when many Filipinos migrated to the United States to find better jobs and opportunities.</a:t>
            </a:r>
          </a:p>
          <a:p>
            <a:pPr marL="611855" lvl="1" indent="-305928" algn="l">
              <a:lnSpc>
                <a:spcPts val="3967"/>
              </a:lnSpc>
              <a:buFont typeface="Arial"/>
              <a:buChar char="•"/>
            </a:pPr>
            <a:endParaRPr lang="en-US" dirty="0">
              <a:solidFill>
                <a:srgbClr val="2D3621"/>
              </a:solidFill>
              <a:latin typeface="Courier Prime"/>
              <a:ea typeface="Courier Prime"/>
              <a:cs typeface="Courier Prime"/>
              <a:sym typeface="Courier Prime"/>
            </a:endParaRPr>
          </a:p>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The Philippines had a long history of American influence because of colonization and close political ties.</a:t>
            </a:r>
          </a:p>
          <a:p>
            <a:pPr algn="l">
              <a:lnSpc>
                <a:spcPts val="3967"/>
              </a:lnSpc>
            </a:pPr>
            <a:endParaRPr lang="en-US" dirty="0">
              <a:solidFill>
                <a:srgbClr val="2D3621"/>
              </a:solidFill>
              <a:latin typeface="Courier Prime"/>
              <a:ea typeface="Courier Prime"/>
              <a:cs typeface="Courier Prime"/>
              <a:sym typeface="Courier Prime"/>
            </a:endParaRPr>
          </a:p>
        </p:txBody>
      </p:sp>
      <p:sp>
        <p:nvSpPr>
          <p:cNvPr id="6" name="TextBox 4">
            <a:extLst>
              <a:ext uri="{FF2B5EF4-FFF2-40B4-BE49-F238E27FC236}">
                <a16:creationId xmlns:a16="http://schemas.microsoft.com/office/drawing/2014/main" id="{449A7B00-0F5D-6192-0E10-BFE0355B0F5D}"/>
              </a:ext>
            </a:extLst>
          </p:cNvPr>
          <p:cNvSpPr txBox="1"/>
          <p:nvPr/>
        </p:nvSpPr>
        <p:spPr>
          <a:xfrm>
            <a:off x="1981200" y="2318003"/>
            <a:ext cx="18554474" cy="1113697"/>
          </a:xfrm>
          <a:prstGeom prst="rect">
            <a:avLst/>
          </a:prstGeom>
        </p:spPr>
        <p:txBody>
          <a:bodyPr lIns="0" tIns="0" rIns="0" bIns="0" rtlCol="0" anchor="t">
            <a:spAutoFit/>
          </a:bodyPr>
          <a:lstStyle/>
          <a:p>
            <a:pPr algn="l">
              <a:lnSpc>
                <a:spcPts val="6762"/>
              </a:lnSpc>
            </a:pPr>
            <a:r>
              <a:rPr lang="en-US" sz="7513" spc="-278" dirty="0">
                <a:solidFill>
                  <a:srgbClr val="2D3621"/>
                </a:solidFill>
                <a:latin typeface="TAN Harmoni"/>
                <a:ea typeface="TAN Harmoni"/>
                <a:cs typeface="TAN Harmoni"/>
                <a:sym typeface="TAN Harmoni"/>
              </a:rPr>
              <a:t>THE FILIPINO-AMERICAN EXPERIENCE</a:t>
            </a:r>
          </a:p>
        </p:txBody>
      </p:sp>
    </p:spTree>
    <p:extLst>
      <p:ext uri="{BB962C8B-B14F-4D97-AF65-F5344CB8AC3E}">
        <p14:creationId xmlns:p14="http://schemas.microsoft.com/office/powerpoint/2010/main" val="2338075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a:extLst>
            <a:ext uri="{FF2B5EF4-FFF2-40B4-BE49-F238E27FC236}">
              <a16:creationId xmlns:a16="http://schemas.microsoft.com/office/drawing/2014/main" id="{CC3CB0E1-27D4-8E77-6830-E7774DA2A62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9E44D17-E977-A3F2-CC16-CBD75CB88B2E}"/>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a:extLst>
              <a:ext uri="{FF2B5EF4-FFF2-40B4-BE49-F238E27FC236}">
                <a16:creationId xmlns:a16="http://schemas.microsoft.com/office/drawing/2014/main" id="{75E44704-1CAE-5692-45B2-6E3E7F594F6B}"/>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a:extLst>
              <a:ext uri="{FF2B5EF4-FFF2-40B4-BE49-F238E27FC236}">
                <a16:creationId xmlns:a16="http://schemas.microsoft.com/office/drawing/2014/main" id="{87F4602B-EF00-7CDD-F052-41B325980D15}"/>
              </a:ext>
            </a:extLst>
          </p:cNvPr>
          <p:cNvSpPr txBox="1"/>
          <p:nvPr/>
        </p:nvSpPr>
        <p:spPr>
          <a:xfrm>
            <a:off x="1981200" y="2318003"/>
            <a:ext cx="18554474" cy="1113697"/>
          </a:xfrm>
          <a:prstGeom prst="rect">
            <a:avLst/>
          </a:prstGeom>
        </p:spPr>
        <p:txBody>
          <a:bodyPr lIns="0" tIns="0" rIns="0" bIns="0" rtlCol="0" anchor="t">
            <a:spAutoFit/>
          </a:bodyPr>
          <a:lstStyle/>
          <a:p>
            <a:pPr algn="l">
              <a:lnSpc>
                <a:spcPts val="6762"/>
              </a:lnSpc>
            </a:pPr>
            <a:r>
              <a:rPr lang="en-US" sz="7513" spc="-278" dirty="0">
                <a:solidFill>
                  <a:srgbClr val="2D3621"/>
                </a:solidFill>
                <a:latin typeface="TAN Harmoni"/>
                <a:ea typeface="TAN Harmoni"/>
                <a:cs typeface="TAN Harmoni"/>
                <a:sym typeface="TAN Harmoni"/>
              </a:rPr>
              <a:t>THE FILIPINO-AMERICAN EXPERIENCE</a:t>
            </a:r>
          </a:p>
        </p:txBody>
      </p:sp>
      <p:sp>
        <p:nvSpPr>
          <p:cNvPr id="5" name="TextBox 5">
            <a:extLst>
              <a:ext uri="{FF2B5EF4-FFF2-40B4-BE49-F238E27FC236}">
                <a16:creationId xmlns:a16="http://schemas.microsoft.com/office/drawing/2014/main" id="{D19D523C-D2FC-DC32-6B60-91BDD2E81E35}"/>
              </a:ext>
            </a:extLst>
          </p:cNvPr>
          <p:cNvSpPr txBox="1"/>
          <p:nvPr/>
        </p:nvSpPr>
        <p:spPr>
          <a:xfrm>
            <a:off x="1736853" y="3924300"/>
            <a:ext cx="15035896" cy="4044697"/>
          </a:xfrm>
          <a:prstGeom prst="rect">
            <a:avLst/>
          </a:prstGeom>
        </p:spPr>
        <p:txBody>
          <a:bodyPr wrap="square" lIns="0" tIns="0" rIns="0" bIns="0" rtlCol="0" anchor="t">
            <a:spAutoFit/>
          </a:bodyPr>
          <a:lstStyle/>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When Pedro becomes “Pete,” it symbolizes how some immigrants change their identity to fit into American society.</a:t>
            </a:r>
          </a:p>
          <a:p>
            <a:pPr algn="l">
              <a:lnSpc>
                <a:spcPts val="3967"/>
              </a:lnSpc>
            </a:pPr>
            <a:endParaRPr lang="en-US" sz="2400" dirty="0">
              <a:solidFill>
                <a:srgbClr val="2D3621"/>
              </a:solidFill>
              <a:latin typeface="Courier Prime"/>
              <a:ea typeface="Courier Prime"/>
              <a:cs typeface="Courier Prime"/>
              <a:sym typeface="Courier Prime"/>
            </a:endParaRPr>
          </a:p>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The relationship between the Philippines and the United States influenced migration, education, and culture.</a:t>
            </a:r>
          </a:p>
          <a:p>
            <a:pPr algn="l">
              <a:lnSpc>
                <a:spcPts val="3967"/>
              </a:lnSpc>
            </a:pPr>
            <a:endParaRPr lang="en-US" dirty="0">
              <a:solidFill>
                <a:srgbClr val="2D3621"/>
              </a:solidFill>
              <a:latin typeface="Courier Prime"/>
              <a:ea typeface="Courier Prime"/>
              <a:cs typeface="Courier Prime"/>
              <a:sym typeface="Courier Prime"/>
            </a:endParaRPr>
          </a:p>
        </p:txBody>
      </p:sp>
    </p:spTree>
    <p:extLst>
      <p:ext uri="{BB962C8B-B14F-4D97-AF65-F5344CB8AC3E}">
        <p14:creationId xmlns:p14="http://schemas.microsoft.com/office/powerpoint/2010/main" val="2636822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a:extLst>
            <a:ext uri="{FF2B5EF4-FFF2-40B4-BE49-F238E27FC236}">
              <a16:creationId xmlns:a16="http://schemas.microsoft.com/office/drawing/2014/main" id="{831C14BC-F721-5823-68EF-F070D46070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D52CDB-4F26-25B9-CA22-CE298E7FC871}"/>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a:extLst>
              <a:ext uri="{FF2B5EF4-FFF2-40B4-BE49-F238E27FC236}">
                <a16:creationId xmlns:a16="http://schemas.microsoft.com/office/drawing/2014/main" id="{DBDB934E-FCF2-932D-AC1E-E3C6E5E496FF}"/>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a:extLst>
              <a:ext uri="{FF2B5EF4-FFF2-40B4-BE49-F238E27FC236}">
                <a16:creationId xmlns:a16="http://schemas.microsoft.com/office/drawing/2014/main" id="{0172C734-B9AE-A18C-BB9C-E58E202ED1EB}"/>
              </a:ext>
            </a:extLst>
          </p:cNvPr>
          <p:cNvSpPr txBox="1"/>
          <p:nvPr/>
        </p:nvSpPr>
        <p:spPr>
          <a:xfrm>
            <a:off x="1981200" y="1866900"/>
            <a:ext cx="18554474" cy="943015"/>
          </a:xfrm>
          <a:prstGeom prst="rect">
            <a:avLst/>
          </a:prstGeom>
        </p:spPr>
        <p:txBody>
          <a:bodyPr lIns="0" tIns="0" rIns="0" bIns="0" rtlCol="0" anchor="t">
            <a:spAutoFit/>
          </a:bodyPr>
          <a:lstStyle/>
          <a:p>
            <a:pPr algn="l">
              <a:lnSpc>
                <a:spcPts val="6762"/>
              </a:lnSpc>
            </a:pPr>
            <a:r>
              <a:rPr lang="en-US" sz="7513" spc="-278" dirty="0">
                <a:solidFill>
                  <a:srgbClr val="2D3621"/>
                </a:solidFill>
                <a:latin typeface="TAN Harmoni"/>
                <a:ea typeface="TAN Harmoni"/>
                <a:cs typeface="TAN Harmoni"/>
                <a:sym typeface="TAN Harmoni"/>
              </a:rPr>
              <a:t>CORE ISSUES IN THE LETTER</a:t>
            </a:r>
          </a:p>
        </p:txBody>
      </p:sp>
      <p:sp>
        <p:nvSpPr>
          <p:cNvPr id="5" name="TextBox 5">
            <a:extLst>
              <a:ext uri="{FF2B5EF4-FFF2-40B4-BE49-F238E27FC236}">
                <a16:creationId xmlns:a16="http://schemas.microsoft.com/office/drawing/2014/main" id="{F6382084-CED5-ADC8-77EC-9403F51D6D7E}"/>
              </a:ext>
            </a:extLst>
          </p:cNvPr>
          <p:cNvSpPr txBox="1"/>
          <p:nvPr/>
        </p:nvSpPr>
        <p:spPr>
          <a:xfrm>
            <a:off x="1690044" y="3086100"/>
            <a:ext cx="15035896" cy="5139869"/>
          </a:xfrm>
          <a:prstGeom prst="rect">
            <a:avLst/>
          </a:prstGeom>
        </p:spPr>
        <p:txBody>
          <a:bodyPr wrap="square" lIns="0" tIns="0" rIns="0" bIns="0" rtlCol="0" anchor="t">
            <a:spAutoFit/>
          </a:bodyPr>
          <a:lstStyle/>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Political Constraints: State control restricting individual freedom and future growth.</a:t>
            </a:r>
          </a:p>
          <a:p>
            <a:pPr marL="611855" lvl="1" indent="-305928" algn="l">
              <a:lnSpc>
                <a:spcPts val="3967"/>
              </a:lnSpc>
              <a:buFont typeface="Arial"/>
              <a:buChar char="•"/>
            </a:pPr>
            <a:endParaRPr lang="en-US" sz="3600" dirty="0">
              <a:solidFill>
                <a:srgbClr val="2D3621"/>
              </a:solidFill>
              <a:latin typeface="Courier Prime"/>
              <a:ea typeface="Courier Prime"/>
              <a:cs typeface="Courier Prime"/>
              <a:sym typeface="Courier Prime"/>
            </a:endParaRPr>
          </a:p>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Colonial Influence: The long history between the Philippines and the U.S. makes Filipinos feel like America is the best place to go to find safety and a better life.</a:t>
            </a:r>
          </a:p>
          <a:p>
            <a:pPr marL="611855" lvl="1" indent="-305928" algn="l">
              <a:lnSpc>
                <a:spcPts val="3967"/>
              </a:lnSpc>
              <a:buFont typeface="Arial"/>
              <a:buChar char="•"/>
            </a:pPr>
            <a:endParaRPr lang="en-US" sz="3600" dirty="0">
              <a:solidFill>
                <a:srgbClr val="2D3621"/>
              </a:solidFill>
              <a:latin typeface="Courier Prime"/>
              <a:ea typeface="Courier Prime"/>
              <a:cs typeface="Courier Prime"/>
              <a:sym typeface="Courier Prime"/>
            </a:endParaRPr>
          </a:p>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Cultural Erosion: The gradual loss of Filipino traditions when living outside the home country.</a:t>
            </a:r>
            <a:endParaRPr lang="en-US" dirty="0">
              <a:solidFill>
                <a:srgbClr val="2D3621"/>
              </a:solidFill>
              <a:latin typeface="Courier Prime"/>
              <a:ea typeface="Courier Prime"/>
              <a:cs typeface="Courier Prime"/>
              <a:sym typeface="Courier Prime"/>
            </a:endParaRPr>
          </a:p>
        </p:txBody>
      </p:sp>
    </p:spTree>
    <p:extLst>
      <p:ext uri="{BB962C8B-B14F-4D97-AF65-F5344CB8AC3E}">
        <p14:creationId xmlns:p14="http://schemas.microsoft.com/office/powerpoint/2010/main" val="1487837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2252670" y="3170316"/>
            <a:ext cx="13782659" cy="2866431"/>
          </a:xfrm>
          <a:prstGeom prst="rect">
            <a:avLst/>
          </a:prstGeom>
        </p:spPr>
        <p:txBody>
          <a:bodyPr lIns="0" tIns="0" rIns="0" bIns="0" rtlCol="0" anchor="t">
            <a:spAutoFit/>
          </a:bodyPr>
          <a:lstStyle/>
          <a:p>
            <a:pPr algn="l">
              <a:lnSpc>
                <a:spcPts val="17487"/>
              </a:lnSpc>
            </a:pPr>
            <a:r>
              <a:rPr lang="en-US" sz="19430" spc="-718">
                <a:solidFill>
                  <a:srgbClr val="E8E3DB"/>
                </a:solidFill>
                <a:latin typeface="TAN Harmoni"/>
                <a:ea typeface="TAN Harmoni"/>
                <a:cs typeface="TAN Harmoni"/>
                <a:sym typeface="TAN Harmoni"/>
              </a:rPr>
              <a:t>READER-RESPONSE</a:t>
            </a:r>
          </a:p>
        </p:txBody>
      </p:sp>
      <p:sp>
        <p:nvSpPr>
          <p:cNvPr id="5" name="TextBox 5"/>
          <p:cNvSpPr txBox="1"/>
          <p:nvPr/>
        </p:nvSpPr>
        <p:spPr>
          <a:xfrm>
            <a:off x="6146623" y="5339541"/>
            <a:ext cx="6253363" cy="2003307"/>
          </a:xfrm>
          <a:prstGeom prst="rect">
            <a:avLst/>
          </a:prstGeom>
        </p:spPr>
        <p:txBody>
          <a:bodyPr lIns="0" tIns="0" rIns="0" bIns="0" rtlCol="0" anchor="t">
            <a:spAutoFit/>
          </a:bodyPr>
          <a:lstStyle/>
          <a:p>
            <a:pPr algn="l">
              <a:lnSpc>
                <a:spcPts val="12187"/>
              </a:lnSpc>
            </a:pPr>
            <a:r>
              <a:rPr lang="en-US" sz="13542" spc="-501">
                <a:solidFill>
                  <a:srgbClr val="E8E3DB"/>
                </a:solidFill>
                <a:latin typeface="TAN Harmoni"/>
                <a:ea typeface="TAN Harmoni"/>
                <a:cs typeface="TAN Harmoni"/>
                <a:sym typeface="TAN Harmoni"/>
              </a:rPr>
              <a:t>APPROACH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a:extLst>
            <a:ext uri="{FF2B5EF4-FFF2-40B4-BE49-F238E27FC236}">
              <a16:creationId xmlns:a16="http://schemas.microsoft.com/office/drawing/2014/main" id="{30A7DAB5-EB57-A742-2265-4B8288E2DA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E48876-0761-EF13-297D-4E5EC0679DD7}"/>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a:extLst>
              <a:ext uri="{FF2B5EF4-FFF2-40B4-BE49-F238E27FC236}">
                <a16:creationId xmlns:a16="http://schemas.microsoft.com/office/drawing/2014/main" id="{06A39BBE-F53B-24C1-BABC-D4104A4DD9FA}"/>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a:extLst>
              <a:ext uri="{FF2B5EF4-FFF2-40B4-BE49-F238E27FC236}">
                <a16:creationId xmlns:a16="http://schemas.microsoft.com/office/drawing/2014/main" id="{4601B642-E4EF-5F56-D14E-563715C76AA6}"/>
              </a:ext>
            </a:extLst>
          </p:cNvPr>
          <p:cNvSpPr txBox="1"/>
          <p:nvPr/>
        </p:nvSpPr>
        <p:spPr>
          <a:xfrm>
            <a:off x="1981200" y="1620821"/>
            <a:ext cx="18554474" cy="943015"/>
          </a:xfrm>
          <a:prstGeom prst="rect">
            <a:avLst/>
          </a:prstGeom>
        </p:spPr>
        <p:txBody>
          <a:bodyPr lIns="0" tIns="0" rIns="0" bIns="0" rtlCol="0" anchor="t">
            <a:spAutoFit/>
          </a:bodyPr>
          <a:lstStyle/>
          <a:p>
            <a:pPr algn="l">
              <a:lnSpc>
                <a:spcPts val="6762"/>
              </a:lnSpc>
            </a:pPr>
            <a:r>
              <a:rPr lang="en-US" sz="7513" spc="-278" dirty="0">
                <a:solidFill>
                  <a:srgbClr val="2D3621"/>
                </a:solidFill>
                <a:latin typeface="TAN Harmoni"/>
                <a:ea typeface="TAN Harmoni"/>
                <a:cs typeface="TAN Harmoni"/>
                <a:sym typeface="TAN Harmoni"/>
              </a:rPr>
              <a:t>WHY THE READER MATTERS?</a:t>
            </a:r>
          </a:p>
        </p:txBody>
      </p:sp>
      <p:sp>
        <p:nvSpPr>
          <p:cNvPr id="5" name="TextBox 5">
            <a:extLst>
              <a:ext uri="{FF2B5EF4-FFF2-40B4-BE49-F238E27FC236}">
                <a16:creationId xmlns:a16="http://schemas.microsoft.com/office/drawing/2014/main" id="{170CBD8C-6168-2BDC-698A-9827858A19DE}"/>
              </a:ext>
            </a:extLst>
          </p:cNvPr>
          <p:cNvSpPr txBox="1"/>
          <p:nvPr/>
        </p:nvSpPr>
        <p:spPr>
          <a:xfrm>
            <a:off x="1828800" y="5018981"/>
            <a:ext cx="15035896" cy="3600986"/>
          </a:xfrm>
          <a:prstGeom prst="rect">
            <a:avLst/>
          </a:prstGeom>
        </p:spPr>
        <p:txBody>
          <a:bodyPr wrap="square" lIns="0" tIns="0" rIns="0" bIns="0" rtlCol="0" anchor="t">
            <a:spAutoFit/>
          </a:bodyPr>
          <a:lstStyle/>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Reading Between the Lines: You use your own experiences to "fill in the blanks".</a:t>
            </a:r>
          </a:p>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Unlocking the "Unspoken": You interpret the poem's silences and emotions based on your own values.</a:t>
            </a:r>
          </a:p>
          <a:p>
            <a:pPr marL="611855" lvl="1" indent="-305928" algn="l">
              <a:lnSpc>
                <a:spcPts val="3967"/>
              </a:lnSpc>
              <a:buFont typeface="Arial"/>
              <a:buChar char="•"/>
            </a:pPr>
            <a:r>
              <a:rPr lang="en-US" sz="3600" dirty="0">
                <a:solidFill>
                  <a:srgbClr val="2D3621"/>
                </a:solidFill>
                <a:latin typeface="Courier Prime"/>
                <a:ea typeface="Courier Prime"/>
                <a:cs typeface="Courier Prime"/>
                <a:sym typeface="Courier Prime"/>
              </a:rPr>
              <a:t>Making it Relevant: You turn an early 1970's poem into a message that feels current and true for you today.</a:t>
            </a:r>
            <a:endParaRPr lang="en-US" dirty="0">
              <a:solidFill>
                <a:srgbClr val="2D3621"/>
              </a:solidFill>
              <a:latin typeface="Courier Prime"/>
              <a:ea typeface="Courier Prime"/>
              <a:cs typeface="Courier Prime"/>
              <a:sym typeface="Courier Prime"/>
            </a:endParaRPr>
          </a:p>
        </p:txBody>
      </p:sp>
      <p:sp>
        <p:nvSpPr>
          <p:cNvPr id="6" name="TextBox 5">
            <a:extLst>
              <a:ext uri="{FF2B5EF4-FFF2-40B4-BE49-F238E27FC236}">
                <a16:creationId xmlns:a16="http://schemas.microsoft.com/office/drawing/2014/main" id="{F78BC7E6-F47D-6925-7BFB-ED1191F7066A}"/>
              </a:ext>
            </a:extLst>
          </p:cNvPr>
          <p:cNvSpPr txBox="1"/>
          <p:nvPr/>
        </p:nvSpPr>
        <p:spPr>
          <a:xfrm>
            <a:off x="1690044" y="2545330"/>
            <a:ext cx="15035896" cy="1549142"/>
          </a:xfrm>
          <a:prstGeom prst="rect">
            <a:avLst/>
          </a:prstGeom>
        </p:spPr>
        <p:txBody>
          <a:bodyPr wrap="square" lIns="0" tIns="0" rIns="0" bIns="0" rtlCol="0" anchor="t">
            <a:spAutoFit/>
          </a:bodyPr>
          <a:lstStyle/>
          <a:p>
            <a:pPr marL="305927" lvl="1" algn="l">
              <a:lnSpc>
                <a:spcPts val="3967"/>
              </a:lnSpc>
            </a:pPr>
            <a:r>
              <a:rPr lang="en-US" sz="3600" dirty="0">
                <a:solidFill>
                  <a:srgbClr val="2D3621"/>
                </a:solidFill>
                <a:latin typeface="Courier Prime"/>
                <a:ea typeface="Courier Prime"/>
                <a:cs typeface="Courier Prime"/>
                <a:sym typeface="Courier Prime"/>
              </a:rPr>
              <a:t>Focuses on the idea that a text has no meaning until a reader engages with it and gives it personal significance.</a:t>
            </a:r>
            <a:endParaRPr lang="en-US" dirty="0">
              <a:solidFill>
                <a:srgbClr val="2D3621"/>
              </a:solidFill>
              <a:latin typeface="Courier Prime"/>
              <a:ea typeface="Courier Prime"/>
              <a:cs typeface="Courier Prime"/>
              <a:sym typeface="Courier Prime"/>
            </a:endParaRPr>
          </a:p>
        </p:txBody>
      </p:sp>
    </p:spTree>
    <p:extLst>
      <p:ext uri="{BB962C8B-B14F-4D97-AF65-F5344CB8AC3E}">
        <p14:creationId xmlns:p14="http://schemas.microsoft.com/office/powerpoint/2010/main" val="3158994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grpSp>
        <p:nvGrpSpPr>
          <p:cNvPr id="2" name="Group 2"/>
          <p:cNvGrpSpPr/>
          <p:nvPr/>
        </p:nvGrpSpPr>
        <p:grpSpPr>
          <a:xfrm>
            <a:off x="2193138" y="3467100"/>
            <a:ext cx="14037462" cy="5821729"/>
            <a:chOff x="0" y="0"/>
            <a:chExt cx="3697109" cy="1449774"/>
          </a:xfrm>
        </p:grpSpPr>
        <p:sp>
          <p:nvSpPr>
            <p:cNvPr id="3" name="Freeform 3"/>
            <p:cNvSpPr/>
            <p:nvPr/>
          </p:nvSpPr>
          <p:spPr>
            <a:xfrm>
              <a:off x="0" y="0"/>
              <a:ext cx="3697109" cy="1449774"/>
            </a:xfrm>
            <a:custGeom>
              <a:avLst/>
              <a:gdLst/>
              <a:ahLst/>
              <a:cxnLst/>
              <a:rect l="l" t="t" r="r" b="b"/>
              <a:pathLst>
                <a:path w="3697109" h="1449774">
                  <a:moveTo>
                    <a:pt x="0" y="0"/>
                  </a:moveTo>
                  <a:lnTo>
                    <a:pt x="3697109" y="0"/>
                  </a:lnTo>
                  <a:lnTo>
                    <a:pt x="3697109" y="1449774"/>
                  </a:lnTo>
                  <a:lnTo>
                    <a:pt x="0" y="1449774"/>
                  </a:lnTo>
                  <a:close/>
                </a:path>
              </a:pathLst>
            </a:custGeom>
            <a:solidFill>
              <a:srgbClr val="2D3621"/>
            </a:solidFill>
          </p:spPr>
        </p:sp>
        <p:sp>
          <p:nvSpPr>
            <p:cNvPr id="4" name="TextBox 4"/>
            <p:cNvSpPr txBox="1"/>
            <p:nvPr/>
          </p:nvSpPr>
          <p:spPr>
            <a:xfrm>
              <a:off x="0" y="-38100"/>
              <a:ext cx="3697109" cy="1487874"/>
            </a:xfrm>
            <a:prstGeom prst="rect">
              <a:avLst/>
            </a:prstGeom>
          </p:spPr>
          <p:txBody>
            <a:bodyPr lIns="50800" tIns="50800" rIns="50800" bIns="50800" rtlCol="0" anchor="ctr"/>
            <a:lstStyle/>
            <a:p>
              <a:pPr algn="ctr">
                <a:lnSpc>
                  <a:spcPts val="2520"/>
                </a:lnSpc>
              </a:pPr>
              <a:endParaRPr/>
            </a:p>
          </p:txBody>
        </p:sp>
      </p:grpSp>
      <p:sp>
        <p:nvSpPr>
          <p:cNvPr id="5" name="TextBox 5"/>
          <p:cNvSpPr txBox="1"/>
          <p:nvPr/>
        </p:nvSpPr>
        <p:spPr>
          <a:xfrm>
            <a:off x="1387913" y="1804913"/>
            <a:ext cx="15871387" cy="1592892"/>
          </a:xfrm>
          <a:prstGeom prst="rect">
            <a:avLst/>
          </a:prstGeom>
        </p:spPr>
        <p:txBody>
          <a:bodyPr lIns="0" tIns="0" rIns="0" bIns="0" rtlCol="0" anchor="t">
            <a:spAutoFit/>
          </a:bodyPr>
          <a:lstStyle/>
          <a:p>
            <a:pPr algn="ctr">
              <a:lnSpc>
                <a:spcPts val="9639"/>
              </a:lnSpc>
            </a:pPr>
            <a:r>
              <a:rPr lang="en-US" sz="10710" spc="-396">
                <a:solidFill>
                  <a:srgbClr val="2D3621"/>
                </a:solidFill>
                <a:latin typeface="TAN Harmoni"/>
                <a:ea typeface="TAN Harmoni"/>
                <a:cs typeface="TAN Harmoni"/>
                <a:sym typeface="TAN Harmoni"/>
              </a:rPr>
              <a:t>READER’S PERSONAL RESPONSE</a:t>
            </a:r>
          </a:p>
        </p:txBody>
      </p:sp>
      <p:sp>
        <p:nvSpPr>
          <p:cNvPr id="6" name="TextBox 6"/>
          <p:cNvSpPr txBox="1"/>
          <p:nvPr/>
        </p:nvSpPr>
        <p:spPr>
          <a:xfrm>
            <a:off x="2627059" y="3897885"/>
            <a:ext cx="13298741" cy="4962981"/>
          </a:xfrm>
          <a:prstGeom prst="rect">
            <a:avLst/>
          </a:prstGeom>
        </p:spPr>
        <p:txBody>
          <a:bodyPr lIns="0" tIns="0" rIns="0" bIns="0" rtlCol="0" anchor="t">
            <a:spAutoFit/>
          </a:bodyPr>
          <a:lstStyle/>
          <a:p>
            <a:pPr marL="652881" lvl="1" indent="-326440" algn="l">
              <a:lnSpc>
                <a:spcPts val="3931"/>
              </a:lnSpc>
              <a:buFont typeface="Arial"/>
              <a:buChar char="•"/>
            </a:pPr>
            <a:r>
              <a:rPr lang="en-US" sz="3200" dirty="0">
                <a:solidFill>
                  <a:srgbClr val="E8E3DB"/>
                </a:solidFill>
                <a:latin typeface="Courier Prime"/>
                <a:ea typeface="Courier Prime"/>
                <a:cs typeface="Courier Prime"/>
                <a:sym typeface="Courier Prime"/>
              </a:rPr>
              <a:t>Feels empathy for the narrator’s longing and emotional struggle.</a:t>
            </a:r>
          </a:p>
          <a:p>
            <a:pPr algn="l">
              <a:lnSpc>
                <a:spcPts val="3931"/>
              </a:lnSpc>
            </a:pPr>
            <a:endParaRPr lang="en-US" sz="3200" dirty="0">
              <a:solidFill>
                <a:srgbClr val="E8E3DB"/>
              </a:solidFill>
              <a:latin typeface="Courier Prime"/>
              <a:ea typeface="Courier Prime"/>
              <a:cs typeface="Courier Prime"/>
              <a:sym typeface="Courier Prime"/>
            </a:endParaRPr>
          </a:p>
          <a:p>
            <a:pPr marL="652881" lvl="1" indent="-326440" algn="l">
              <a:lnSpc>
                <a:spcPts val="3931"/>
              </a:lnSpc>
              <a:buFont typeface="Arial"/>
              <a:buChar char="•"/>
            </a:pPr>
            <a:r>
              <a:rPr lang="en-US" sz="3200" dirty="0">
                <a:solidFill>
                  <a:srgbClr val="E8E3DB"/>
                </a:solidFill>
                <a:latin typeface="Courier Prime"/>
                <a:ea typeface="Courier Prime"/>
                <a:cs typeface="Courier Prime"/>
                <a:sym typeface="Courier Prime"/>
              </a:rPr>
              <a:t>Experiences sadness or nostalgia over distance or unfulfilled communication.</a:t>
            </a:r>
          </a:p>
          <a:p>
            <a:pPr algn="l">
              <a:lnSpc>
                <a:spcPts val="3931"/>
              </a:lnSpc>
            </a:pPr>
            <a:endParaRPr lang="en-US" sz="3200" dirty="0">
              <a:solidFill>
                <a:srgbClr val="E8E3DB"/>
              </a:solidFill>
              <a:latin typeface="Courier Prime"/>
              <a:ea typeface="Courier Prime"/>
              <a:cs typeface="Courier Prime"/>
              <a:sym typeface="Courier Prime"/>
            </a:endParaRPr>
          </a:p>
          <a:p>
            <a:pPr marL="652881" lvl="1" indent="-326440" algn="l">
              <a:lnSpc>
                <a:spcPts val="3931"/>
              </a:lnSpc>
              <a:buFont typeface="Arial"/>
              <a:buChar char="•"/>
            </a:pPr>
            <a:r>
              <a:rPr lang="en-US" sz="3200" dirty="0">
                <a:solidFill>
                  <a:srgbClr val="E8E3DB"/>
                </a:solidFill>
                <a:latin typeface="Courier Prime"/>
                <a:ea typeface="Courier Prime"/>
                <a:cs typeface="Courier Prime"/>
                <a:sym typeface="Courier Prime"/>
              </a:rPr>
              <a:t>The story can make readers feel sympathy for Pedro.</a:t>
            </a:r>
          </a:p>
          <a:p>
            <a:pPr algn="l">
              <a:lnSpc>
                <a:spcPts val="3931"/>
              </a:lnSpc>
            </a:pPr>
            <a:endParaRPr lang="en-US" sz="3200" dirty="0">
              <a:solidFill>
                <a:srgbClr val="E8E3DB"/>
              </a:solidFill>
              <a:latin typeface="Courier Prime"/>
              <a:ea typeface="Courier Prime"/>
              <a:cs typeface="Courier Prime"/>
              <a:sym typeface="Courier Prime"/>
            </a:endParaRPr>
          </a:p>
          <a:p>
            <a:pPr marL="652881" lvl="1" indent="-326440" algn="l">
              <a:lnSpc>
                <a:spcPts val="3931"/>
              </a:lnSpc>
              <a:buFont typeface="Arial"/>
              <a:buChar char="•"/>
            </a:pPr>
            <a:r>
              <a:rPr lang="en-US" sz="3200" dirty="0">
                <a:solidFill>
                  <a:srgbClr val="E8E3DB"/>
                </a:solidFill>
                <a:latin typeface="Courier Prime"/>
                <a:ea typeface="Courier Prime"/>
                <a:cs typeface="Courier Prime"/>
                <a:sym typeface="Courier Prime"/>
              </a:rPr>
              <a:t>May feel frustration or disappointment toward Pedro’s actions or indifference.</a:t>
            </a:r>
          </a:p>
        </p:txBody>
      </p:sp>
      <p:sp>
        <p:nvSpPr>
          <p:cNvPr id="7" name="Freeform 7"/>
          <p:cNvSpPr/>
          <p:nvPr/>
        </p:nvSpPr>
        <p:spPr>
          <a:xfrm rot="-5400000">
            <a:off x="625897" y="330250"/>
            <a:ext cx="4258990" cy="4504118"/>
          </a:xfrm>
          <a:custGeom>
            <a:avLst/>
            <a:gdLst/>
            <a:ahLst/>
            <a:cxnLst/>
            <a:rect l="l" t="t" r="r" b="b"/>
            <a:pathLst>
              <a:path w="4258990" h="4504118">
                <a:moveTo>
                  <a:pt x="0" y="0"/>
                </a:moveTo>
                <a:lnTo>
                  <a:pt x="4258990" y="0"/>
                </a:lnTo>
                <a:lnTo>
                  <a:pt x="4258990" y="4504118"/>
                </a:lnTo>
                <a:lnTo>
                  <a:pt x="0" y="4504118"/>
                </a:lnTo>
                <a:lnTo>
                  <a:pt x="0" y="0"/>
                </a:lnTo>
                <a:close/>
              </a:path>
            </a:pathLst>
          </a:custGeom>
          <a:blipFill>
            <a:blip r:embed="rId2">
              <a:extLst>
                <a:ext uri="{96DAC541-7B7A-43D3-8B79-37D633B846F1}">
                  <asvg:svgBlip xmlns:asvg="http://schemas.microsoft.com/office/drawing/2016/SVG/main" r:embed="rId3"/>
                </a:ext>
              </a:extLst>
            </a:blip>
            <a:stretch>
              <a:fillRect l="-120272" b="-211399"/>
            </a:stretch>
          </a:blipFill>
        </p:spPr>
      </p:sp>
      <p:sp>
        <p:nvSpPr>
          <p:cNvPr id="8" name="Freeform 8"/>
          <p:cNvSpPr/>
          <p:nvPr/>
        </p:nvSpPr>
        <p:spPr>
          <a:xfrm rot="-5400000" flipV="1">
            <a:off x="13401210" y="330250"/>
            <a:ext cx="4258990" cy="4504118"/>
          </a:xfrm>
          <a:custGeom>
            <a:avLst/>
            <a:gdLst/>
            <a:ahLst/>
            <a:cxnLst/>
            <a:rect l="l" t="t" r="r" b="b"/>
            <a:pathLst>
              <a:path w="4258990" h="4504118">
                <a:moveTo>
                  <a:pt x="0" y="4504118"/>
                </a:moveTo>
                <a:lnTo>
                  <a:pt x="4258990" y="4504118"/>
                </a:lnTo>
                <a:lnTo>
                  <a:pt x="4258990" y="0"/>
                </a:lnTo>
                <a:lnTo>
                  <a:pt x="0" y="0"/>
                </a:lnTo>
                <a:lnTo>
                  <a:pt x="0" y="4504118"/>
                </a:lnTo>
                <a:close/>
              </a:path>
            </a:pathLst>
          </a:custGeom>
          <a:blipFill>
            <a:blip r:embed="rId2">
              <a:extLst>
                <a:ext uri="{96DAC541-7B7A-43D3-8B79-37D633B846F1}">
                  <asvg:svgBlip xmlns:asvg="http://schemas.microsoft.com/office/drawing/2016/SVG/main" r:embed="rId3"/>
                </a:ext>
              </a:extLst>
            </a:blip>
            <a:stretch>
              <a:fillRect l="-120272" b="-211399"/>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5968079" y="3170316"/>
            <a:ext cx="6351842" cy="2866431"/>
          </a:xfrm>
          <a:prstGeom prst="rect">
            <a:avLst/>
          </a:prstGeom>
        </p:spPr>
        <p:txBody>
          <a:bodyPr lIns="0" tIns="0" rIns="0" bIns="0" rtlCol="0" anchor="t">
            <a:spAutoFit/>
          </a:bodyPr>
          <a:lstStyle/>
          <a:p>
            <a:pPr algn="l">
              <a:lnSpc>
                <a:spcPts val="17487"/>
              </a:lnSpc>
            </a:pPr>
            <a:r>
              <a:rPr lang="en-US" sz="19430" spc="-718">
                <a:solidFill>
                  <a:srgbClr val="E8E3DB"/>
                </a:solidFill>
                <a:latin typeface="TAN Harmoni"/>
                <a:ea typeface="TAN Harmoni"/>
                <a:cs typeface="TAN Harmoni"/>
                <a:sym typeface="TAN Harmoni"/>
              </a:rPr>
              <a:t>MARXIST</a:t>
            </a:r>
          </a:p>
        </p:txBody>
      </p:sp>
      <p:sp>
        <p:nvSpPr>
          <p:cNvPr id="5" name="TextBox 5"/>
          <p:cNvSpPr txBox="1"/>
          <p:nvPr/>
        </p:nvSpPr>
        <p:spPr>
          <a:xfrm>
            <a:off x="6146623" y="5339541"/>
            <a:ext cx="6253363" cy="2003307"/>
          </a:xfrm>
          <a:prstGeom prst="rect">
            <a:avLst/>
          </a:prstGeom>
        </p:spPr>
        <p:txBody>
          <a:bodyPr lIns="0" tIns="0" rIns="0" bIns="0" rtlCol="0" anchor="t">
            <a:spAutoFit/>
          </a:bodyPr>
          <a:lstStyle/>
          <a:p>
            <a:pPr algn="l">
              <a:lnSpc>
                <a:spcPts val="12187"/>
              </a:lnSpc>
            </a:pPr>
            <a:r>
              <a:rPr lang="en-US" sz="13542" spc="-501">
                <a:solidFill>
                  <a:srgbClr val="E8E3DB"/>
                </a:solidFill>
                <a:latin typeface="TAN Harmoni"/>
                <a:ea typeface="TAN Harmoni"/>
                <a:cs typeface="TAN Harmoni"/>
                <a:sym typeface="TAN Harmoni"/>
              </a:rPr>
              <a:t>APPROACH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1752600" y="2956624"/>
            <a:ext cx="15146606" cy="5849037"/>
          </a:xfrm>
          <a:prstGeom prst="rect">
            <a:avLst/>
          </a:prstGeom>
        </p:spPr>
        <p:txBody>
          <a:bodyPr wrap="square" lIns="0" tIns="0" rIns="0" bIns="0" rtlCol="0" anchor="t">
            <a:spAutoFit/>
          </a:bodyPr>
          <a:lstStyle/>
          <a:p>
            <a:pPr marL="592484"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The Powerful : </a:t>
            </a:r>
            <a:r>
              <a:rPr lang="en-US" sz="3600" dirty="0">
                <a:solidFill>
                  <a:srgbClr val="2D3621"/>
                </a:solidFill>
                <a:latin typeface="Courier Prime"/>
                <a:ea typeface="Courier Prime"/>
                <a:cs typeface="Courier Prime"/>
                <a:sym typeface="Courier Prime"/>
              </a:rPr>
              <a:t>The Mayor and the Congressman hold all the control. They own the land, use guards with guns to protect their homes, and build bridges named after their own families.</a:t>
            </a:r>
          </a:p>
          <a:p>
            <a:pPr algn="l">
              <a:lnSpc>
                <a:spcPts val="3841"/>
              </a:lnSpc>
            </a:pPr>
            <a:endParaRPr lang="en-US" sz="3600" dirty="0">
              <a:solidFill>
                <a:srgbClr val="2D3621"/>
              </a:solidFill>
              <a:latin typeface="Courier Prime"/>
              <a:ea typeface="Courier Prime"/>
              <a:cs typeface="Courier Prime"/>
              <a:sym typeface="Courier Prime"/>
            </a:endParaRPr>
          </a:p>
          <a:p>
            <a:pPr marL="592484"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The Workers (The Villagers): </a:t>
            </a:r>
            <a:r>
              <a:rPr lang="en-US" sz="3600" dirty="0">
                <a:solidFill>
                  <a:srgbClr val="2D3621"/>
                </a:solidFill>
                <a:latin typeface="Courier Prime"/>
                <a:ea typeface="Courier Prime"/>
                <a:cs typeface="Courier Prime"/>
                <a:sym typeface="Courier Prime"/>
              </a:rPr>
              <a:t>The farmers are the people who do all the hard labor but own nothing. They sell their "sweat and agony" just to pay for basic survival, like rice and nails for a coffin.</a:t>
            </a:r>
          </a:p>
          <a:p>
            <a:pPr algn="l">
              <a:lnSpc>
                <a:spcPts val="3841"/>
              </a:lnSpc>
            </a:pPr>
            <a:endParaRPr lang="en-US" sz="3600" dirty="0">
              <a:solidFill>
                <a:srgbClr val="2D3621"/>
              </a:solidFill>
              <a:latin typeface="Courier Prime"/>
              <a:ea typeface="Courier Prime"/>
              <a:cs typeface="Courier Prime"/>
              <a:sym typeface="Courier Prime"/>
            </a:endParaRPr>
          </a:p>
          <a:p>
            <a:pPr marL="592484"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The Gap: </a:t>
            </a:r>
            <a:r>
              <a:rPr lang="en-US" sz="3600" dirty="0">
                <a:solidFill>
                  <a:srgbClr val="2D3621"/>
                </a:solidFill>
                <a:latin typeface="Courier Prime"/>
                <a:ea typeface="Courier Prime"/>
                <a:cs typeface="Courier Prime"/>
                <a:sym typeface="Courier Prime"/>
              </a:rPr>
              <a:t>Divided between those who own power and resources and those who only provide labor.</a:t>
            </a:r>
          </a:p>
        </p:txBody>
      </p:sp>
      <p:sp>
        <p:nvSpPr>
          <p:cNvPr id="5" name="TextBox 5"/>
          <p:cNvSpPr txBox="1"/>
          <p:nvPr/>
        </p:nvSpPr>
        <p:spPr>
          <a:xfrm>
            <a:off x="1905000" y="1866900"/>
            <a:ext cx="9640384" cy="1081883"/>
          </a:xfrm>
          <a:prstGeom prst="rect">
            <a:avLst/>
          </a:prstGeom>
        </p:spPr>
        <p:txBody>
          <a:bodyPr lIns="0" tIns="0" rIns="0" bIns="0" rtlCol="0" anchor="t">
            <a:spAutoFit/>
          </a:bodyPr>
          <a:lstStyle/>
          <a:p>
            <a:pPr algn="ctr">
              <a:lnSpc>
                <a:spcPts val="6506"/>
              </a:lnSpc>
            </a:pPr>
            <a:r>
              <a:rPr lang="en-US" sz="7229" spc="-267" dirty="0">
                <a:solidFill>
                  <a:srgbClr val="2D3621"/>
                </a:solidFill>
                <a:latin typeface="TAN Harmoni"/>
                <a:ea typeface="TAN Harmoni"/>
                <a:cs typeface="TAN Harmoni"/>
                <a:sym typeface="TAN Harmoni"/>
              </a:rPr>
              <a:t>POWER AND STATUS IN THE VILLAGE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1608261" y="3495993"/>
            <a:ext cx="15146606" cy="5377113"/>
          </a:xfrm>
          <a:prstGeom prst="rect">
            <a:avLst/>
          </a:prstGeom>
        </p:spPr>
        <p:txBody>
          <a:bodyPr wrap="square" lIns="0" tIns="0" rIns="0" bIns="0" rtlCol="0" anchor="t">
            <a:spAutoFit/>
          </a:bodyPr>
          <a:lstStyle/>
          <a:p>
            <a:pPr marL="592483"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Forced Migration: </a:t>
            </a:r>
            <a:r>
              <a:rPr lang="en-US" sz="3600" dirty="0">
                <a:solidFill>
                  <a:srgbClr val="2D3621"/>
                </a:solidFill>
                <a:latin typeface="Courier Prime"/>
                <a:ea typeface="Courier Prime"/>
                <a:cs typeface="Courier Prime"/>
                <a:sym typeface="Courier Prime"/>
              </a:rPr>
              <a:t>Pedro leaves the village not simply by choice but because the local economic system offers little opportunity.</a:t>
            </a:r>
          </a:p>
          <a:p>
            <a:pPr algn="l">
              <a:lnSpc>
                <a:spcPts val="3841"/>
              </a:lnSpc>
            </a:pPr>
            <a:endParaRPr lang="en-US" sz="3600" dirty="0">
              <a:solidFill>
                <a:srgbClr val="2D3621"/>
              </a:solidFill>
              <a:latin typeface="Courier Prime"/>
              <a:ea typeface="Courier Prime"/>
              <a:cs typeface="Courier Prime"/>
              <a:sym typeface="Courier Prime"/>
            </a:endParaRPr>
          </a:p>
          <a:p>
            <a:pPr marL="592483"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Selling Labor Abroad: </a:t>
            </a:r>
            <a:r>
              <a:rPr lang="en-US" sz="3600" dirty="0">
                <a:solidFill>
                  <a:srgbClr val="2D3621"/>
                </a:solidFill>
                <a:latin typeface="Courier Prime"/>
                <a:ea typeface="Courier Prime"/>
                <a:cs typeface="Courier Prime"/>
                <a:sym typeface="Courier Prime"/>
              </a:rPr>
              <a:t>In Marxist terms, Pedro becomes a worker who must sell his labor power in another country to survive.</a:t>
            </a:r>
          </a:p>
          <a:p>
            <a:pPr algn="l">
              <a:lnSpc>
                <a:spcPts val="3841"/>
              </a:lnSpc>
            </a:pPr>
            <a:endParaRPr lang="en-US" sz="3600" dirty="0">
              <a:solidFill>
                <a:srgbClr val="2D3621"/>
              </a:solidFill>
              <a:latin typeface="Courier Prime"/>
              <a:ea typeface="Courier Prime"/>
              <a:cs typeface="Courier Prime"/>
              <a:sym typeface="Courier Prime"/>
            </a:endParaRPr>
          </a:p>
          <a:p>
            <a:pPr marL="592483"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Loss of Identity: </a:t>
            </a:r>
            <a:r>
              <a:rPr lang="en-US" sz="3600" dirty="0">
                <a:solidFill>
                  <a:srgbClr val="2D3621"/>
                </a:solidFill>
                <a:latin typeface="Courier Prime"/>
                <a:ea typeface="Courier Prime"/>
                <a:cs typeface="Courier Prime"/>
                <a:sym typeface="Courier Prime"/>
              </a:rPr>
              <a:t>His transformation into “Pete” reflects how workers must adjust themselves to fit in.</a:t>
            </a:r>
          </a:p>
        </p:txBody>
      </p:sp>
      <p:sp>
        <p:nvSpPr>
          <p:cNvPr id="5" name="TextBox 5"/>
          <p:cNvSpPr txBox="1"/>
          <p:nvPr/>
        </p:nvSpPr>
        <p:spPr>
          <a:xfrm>
            <a:off x="2089726" y="1601291"/>
            <a:ext cx="14108547" cy="1894702"/>
          </a:xfrm>
          <a:prstGeom prst="rect">
            <a:avLst/>
          </a:prstGeom>
        </p:spPr>
        <p:txBody>
          <a:bodyPr lIns="0" tIns="0" rIns="0" bIns="0" rtlCol="0" anchor="t">
            <a:spAutoFit/>
          </a:bodyPr>
          <a:lstStyle/>
          <a:p>
            <a:pPr algn="l">
              <a:lnSpc>
                <a:spcPts val="6506"/>
              </a:lnSpc>
            </a:pPr>
            <a:r>
              <a:rPr lang="en-US" sz="7229" spc="-267">
                <a:solidFill>
                  <a:srgbClr val="2D3621"/>
                </a:solidFill>
                <a:latin typeface="TAN Harmoni"/>
                <a:ea typeface="TAN Harmoni"/>
                <a:cs typeface="TAN Harmoni"/>
                <a:sym typeface="TAN Harmoni"/>
              </a:rPr>
              <a:t>LABOR MIGRATION AS ECONOMIC SURVIVALOF THE "EXPORTED" WORKER (PETE)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1845995" y="2495048"/>
            <a:ext cx="15299005" cy="4402487"/>
          </a:xfrm>
          <a:prstGeom prst="rect">
            <a:avLst/>
          </a:prstGeom>
        </p:spPr>
        <p:txBody>
          <a:bodyPr wrap="square" lIns="0" tIns="0" rIns="0" bIns="0" rtlCol="0" anchor="t">
            <a:spAutoFit/>
          </a:bodyPr>
          <a:lstStyle/>
          <a:p>
            <a:pPr marL="592483"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Unfair Economic System: </a:t>
            </a:r>
            <a:r>
              <a:rPr lang="en-US" sz="3600" dirty="0">
                <a:solidFill>
                  <a:srgbClr val="2D3621"/>
                </a:solidFill>
                <a:latin typeface="Courier Prime"/>
                <a:ea typeface="Courier Prime"/>
                <a:cs typeface="Courier Prime"/>
                <a:sym typeface="Courier Prime"/>
              </a:rPr>
              <a:t>The village economy benefits those in power while the working class remains poor.</a:t>
            </a:r>
          </a:p>
          <a:p>
            <a:pPr marL="296241" lvl="1" algn="l">
              <a:lnSpc>
                <a:spcPts val="3841"/>
              </a:lnSpc>
            </a:pPr>
            <a:endParaRPr lang="en-US" sz="3600" dirty="0">
              <a:solidFill>
                <a:srgbClr val="2D3621"/>
              </a:solidFill>
              <a:latin typeface="Courier Prime"/>
              <a:ea typeface="Courier Prime"/>
              <a:cs typeface="Courier Prime"/>
              <a:sym typeface="Courier Prime"/>
            </a:endParaRPr>
          </a:p>
          <a:p>
            <a:pPr marL="592483"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Ideology and False Hope: </a:t>
            </a:r>
            <a:r>
              <a:rPr lang="en-US" sz="3600" dirty="0">
                <a:solidFill>
                  <a:srgbClr val="2D3621"/>
                </a:solidFill>
                <a:latin typeface="Courier Prime"/>
                <a:ea typeface="Courier Prime"/>
                <a:cs typeface="Courier Prime"/>
                <a:sym typeface="Courier Prime"/>
              </a:rPr>
              <a:t>The dream of success abroad keeps people from questioning the system that causes inequality.</a:t>
            </a:r>
          </a:p>
          <a:p>
            <a:pPr marL="592483" lvl="1" indent="-296242" algn="l">
              <a:lnSpc>
                <a:spcPts val="3841"/>
              </a:lnSpc>
              <a:buFont typeface="Arial"/>
              <a:buChar char="•"/>
            </a:pPr>
            <a:endParaRPr lang="en-US" sz="3600" dirty="0">
              <a:solidFill>
                <a:srgbClr val="2D3621"/>
              </a:solidFill>
              <a:latin typeface="Courier Prime"/>
              <a:ea typeface="Courier Prime"/>
              <a:cs typeface="Courier Prime"/>
              <a:sym typeface="Courier Prime"/>
            </a:endParaRPr>
          </a:p>
          <a:p>
            <a:pPr marL="592483"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Cycle of Poverty: </a:t>
            </a:r>
            <a:r>
              <a:rPr lang="en-US" sz="3600" dirty="0">
                <a:solidFill>
                  <a:srgbClr val="2D3621"/>
                </a:solidFill>
                <a:latin typeface="Courier Prime"/>
                <a:ea typeface="Courier Prime"/>
                <a:cs typeface="Courier Prime"/>
                <a:sym typeface="Courier Prime"/>
              </a:rPr>
              <a:t>Workers remain trapped because they lack access to resources and opportunities.</a:t>
            </a:r>
          </a:p>
        </p:txBody>
      </p:sp>
      <p:sp>
        <p:nvSpPr>
          <p:cNvPr id="5" name="TextBox 5"/>
          <p:cNvSpPr txBox="1"/>
          <p:nvPr/>
        </p:nvSpPr>
        <p:spPr>
          <a:xfrm>
            <a:off x="503333" y="1562100"/>
            <a:ext cx="13746067" cy="932948"/>
          </a:xfrm>
          <a:prstGeom prst="rect">
            <a:avLst/>
          </a:prstGeom>
        </p:spPr>
        <p:txBody>
          <a:bodyPr wrap="square" lIns="0" tIns="0" rIns="0" bIns="0" rtlCol="0" anchor="t">
            <a:spAutoFit/>
          </a:bodyPr>
          <a:lstStyle/>
          <a:p>
            <a:pPr algn="ctr">
              <a:lnSpc>
                <a:spcPts val="6506"/>
              </a:lnSpc>
            </a:pPr>
            <a:r>
              <a:rPr lang="en-US" sz="8000" spc="-267" dirty="0">
                <a:solidFill>
                  <a:srgbClr val="2D3621"/>
                </a:solidFill>
                <a:latin typeface="TAN Harmoni"/>
                <a:ea typeface="TAN Harmoni"/>
                <a:cs typeface="TAN Harmoni"/>
                <a:sym typeface="TAN Harmoni"/>
              </a:rPr>
              <a:t>CAUSES OF POVERTY IN THE VILLAGE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1380198" y="2621697"/>
            <a:ext cx="15527606" cy="5864426"/>
          </a:xfrm>
          <a:prstGeom prst="rect">
            <a:avLst/>
          </a:prstGeom>
        </p:spPr>
        <p:txBody>
          <a:bodyPr wrap="square" lIns="0" tIns="0" rIns="0" bIns="0" rtlCol="0" anchor="t">
            <a:spAutoFit/>
          </a:bodyPr>
          <a:lstStyle/>
          <a:p>
            <a:pPr marL="592483"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People as Exports: </a:t>
            </a:r>
            <a:r>
              <a:rPr lang="en-US" sz="3600" dirty="0">
                <a:solidFill>
                  <a:srgbClr val="2D3621"/>
                </a:solidFill>
                <a:latin typeface="Courier Prime"/>
                <a:ea typeface="Courier Prime"/>
                <a:cs typeface="Courier Prime"/>
                <a:sym typeface="Courier Prime"/>
              </a:rPr>
              <a:t>The village functions like a system that prepares workers to be sent abroad for economic survival.</a:t>
            </a:r>
          </a:p>
          <a:p>
            <a:pPr marL="296241" lvl="1" algn="l">
              <a:lnSpc>
                <a:spcPts val="3841"/>
              </a:lnSpc>
            </a:pPr>
            <a:endParaRPr lang="en-US" sz="3600" dirty="0">
              <a:solidFill>
                <a:srgbClr val="2D3621"/>
              </a:solidFill>
              <a:latin typeface="Courier Prime"/>
              <a:ea typeface="Courier Prime"/>
              <a:cs typeface="Courier Prime"/>
              <a:sym typeface="Courier Prime"/>
            </a:endParaRPr>
          </a:p>
          <a:p>
            <a:pPr marL="592483"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Illusion of the “Dream”: </a:t>
            </a:r>
            <a:r>
              <a:rPr lang="en-US" sz="3600" dirty="0">
                <a:solidFill>
                  <a:srgbClr val="2D3621"/>
                </a:solidFill>
                <a:latin typeface="Courier Prime"/>
                <a:ea typeface="Courier Prime"/>
                <a:cs typeface="Courier Prime"/>
                <a:sym typeface="Courier Prime"/>
              </a:rPr>
              <a:t>The hope of success abroad distracts people from challenging the unfair system.</a:t>
            </a:r>
          </a:p>
          <a:p>
            <a:pPr marL="592483" lvl="1" indent="-296242" algn="l">
              <a:lnSpc>
                <a:spcPts val="3841"/>
              </a:lnSpc>
              <a:buFont typeface="Arial"/>
              <a:buChar char="•"/>
            </a:pPr>
            <a:endParaRPr lang="en-US" sz="3600" dirty="0">
              <a:solidFill>
                <a:srgbClr val="2D3621"/>
              </a:solidFill>
              <a:latin typeface="Courier Prime"/>
              <a:ea typeface="Courier Prime"/>
              <a:cs typeface="Courier Prime"/>
              <a:sym typeface="Courier Prime"/>
            </a:endParaRPr>
          </a:p>
          <a:p>
            <a:pPr marL="592483" lvl="1" indent="-296242" algn="l">
              <a:lnSpc>
                <a:spcPts val="3841"/>
              </a:lnSpc>
              <a:buFont typeface="Arial"/>
              <a:buChar char="•"/>
            </a:pPr>
            <a:r>
              <a:rPr lang="en-US" sz="3600" dirty="0">
                <a:solidFill>
                  <a:schemeClr val="accent2"/>
                </a:solidFill>
                <a:latin typeface="Courier Prime"/>
                <a:ea typeface="Courier Prime"/>
                <a:cs typeface="Courier Prime"/>
                <a:sym typeface="Courier Prime"/>
              </a:rPr>
              <a:t>Money Over Human Relations: </a:t>
            </a:r>
            <a:r>
              <a:rPr lang="en-US" sz="3600" dirty="0">
                <a:solidFill>
                  <a:srgbClr val="2D3621"/>
                </a:solidFill>
                <a:latin typeface="Courier Prime"/>
                <a:ea typeface="Courier Prime"/>
                <a:cs typeface="Courier Prime"/>
                <a:sym typeface="Courier Prime"/>
              </a:rPr>
              <a:t>Economic survival becomes more important than personal relationships and community.</a:t>
            </a:r>
          </a:p>
          <a:p>
            <a:pPr algn="l">
              <a:lnSpc>
                <a:spcPts val="3841"/>
              </a:lnSpc>
            </a:pPr>
            <a:endParaRPr lang="en-US" sz="3600" dirty="0">
              <a:solidFill>
                <a:srgbClr val="2D3621"/>
              </a:solidFill>
              <a:latin typeface="Courier Prime"/>
              <a:ea typeface="Courier Prime"/>
              <a:cs typeface="Courier Prime"/>
              <a:sym typeface="Courier Prime"/>
            </a:endParaRPr>
          </a:p>
          <a:p>
            <a:pPr algn="l">
              <a:lnSpc>
                <a:spcPts val="3841"/>
              </a:lnSpc>
            </a:pPr>
            <a:endParaRPr lang="en-US" sz="3600" dirty="0">
              <a:solidFill>
                <a:srgbClr val="2D3621"/>
              </a:solidFill>
              <a:latin typeface="Courier Prime"/>
              <a:ea typeface="Courier Prime"/>
              <a:cs typeface="Courier Prime"/>
              <a:sym typeface="Courier Prime"/>
            </a:endParaRPr>
          </a:p>
        </p:txBody>
      </p:sp>
      <p:sp>
        <p:nvSpPr>
          <p:cNvPr id="5" name="TextBox 5"/>
          <p:cNvSpPr txBox="1"/>
          <p:nvPr/>
        </p:nvSpPr>
        <p:spPr>
          <a:xfrm>
            <a:off x="152400" y="1638300"/>
            <a:ext cx="9640384" cy="903261"/>
          </a:xfrm>
          <a:prstGeom prst="rect">
            <a:avLst/>
          </a:prstGeom>
        </p:spPr>
        <p:txBody>
          <a:bodyPr lIns="0" tIns="0" rIns="0" bIns="0" rtlCol="0" anchor="t">
            <a:spAutoFit/>
          </a:bodyPr>
          <a:lstStyle/>
          <a:p>
            <a:pPr algn="ctr">
              <a:lnSpc>
                <a:spcPts val="6506"/>
              </a:lnSpc>
            </a:pPr>
            <a:r>
              <a:rPr lang="en-US" sz="7229" spc="-267" dirty="0">
                <a:solidFill>
                  <a:schemeClr val="bg2">
                    <a:lumMod val="10000"/>
                  </a:schemeClr>
                </a:solidFill>
                <a:latin typeface="TAN Harmoni"/>
                <a:ea typeface="TAN Harmoni"/>
                <a:cs typeface="TAN Harmoni"/>
                <a:sym typeface="TAN Harmoni"/>
              </a:rPr>
              <a:t>MAIN MARXIST INSIGHTS: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3201077" y="3189871"/>
            <a:ext cx="11885845" cy="2866431"/>
          </a:xfrm>
          <a:prstGeom prst="rect">
            <a:avLst/>
          </a:prstGeom>
        </p:spPr>
        <p:txBody>
          <a:bodyPr lIns="0" tIns="0" rIns="0" bIns="0" rtlCol="0" anchor="t">
            <a:spAutoFit/>
          </a:bodyPr>
          <a:lstStyle/>
          <a:p>
            <a:pPr algn="l">
              <a:lnSpc>
                <a:spcPts val="17487"/>
              </a:lnSpc>
            </a:pPr>
            <a:r>
              <a:rPr lang="en-US" sz="19430" spc="-718">
                <a:solidFill>
                  <a:srgbClr val="E8E3DB"/>
                </a:solidFill>
                <a:latin typeface="TAN Harmoni"/>
                <a:ea typeface="TAN Harmoni"/>
                <a:cs typeface="TAN Harmoni"/>
                <a:sym typeface="TAN Harmoni"/>
              </a:rPr>
              <a:t>PSYCHOLOGICAL</a:t>
            </a:r>
          </a:p>
        </p:txBody>
      </p:sp>
      <p:sp>
        <p:nvSpPr>
          <p:cNvPr id="5" name="TextBox 5"/>
          <p:cNvSpPr txBox="1"/>
          <p:nvPr/>
        </p:nvSpPr>
        <p:spPr>
          <a:xfrm>
            <a:off x="6146623" y="5339541"/>
            <a:ext cx="6253363" cy="2003307"/>
          </a:xfrm>
          <a:prstGeom prst="rect">
            <a:avLst/>
          </a:prstGeom>
        </p:spPr>
        <p:txBody>
          <a:bodyPr lIns="0" tIns="0" rIns="0" bIns="0" rtlCol="0" anchor="t">
            <a:spAutoFit/>
          </a:bodyPr>
          <a:lstStyle/>
          <a:p>
            <a:pPr algn="l">
              <a:lnSpc>
                <a:spcPts val="12187"/>
              </a:lnSpc>
            </a:pPr>
            <a:r>
              <a:rPr lang="en-US" sz="13542" spc="-501">
                <a:solidFill>
                  <a:srgbClr val="E8E3DB"/>
                </a:solidFill>
                <a:latin typeface="TAN Harmoni"/>
                <a:ea typeface="TAN Harmoni"/>
                <a:cs typeface="TAN Harmoni"/>
                <a:sym typeface="TAN Harmoni"/>
              </a:rPr>
              <a:t>APPROACH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1845995" y="1935570"/>
            <a:ext cx="14596011" cy="6415859"/>
          </a:xfrm>
          <a:prstGeom prst="rect">
            <a:avLst/>
          </a:prstGeom>
        </p:spPr>
        <p:txBody>
          <a:bodyPr lIns="0" tIns="0" rIns="0" bIns="0" rtlCol="0" anchor="t">
            <a:spAutoFit/>
          </a:bodyPr>
          <a:lstStyle/>
          <a:p>
            <a:pPr algn="l">
              <a:lnSpc>
                <a:spcPts val="4681"/>
              </a:lnSpc>
            </a:pPr>
            <a:r>
              <a:rPr lang="en-US" sz="3600" dirty="0">
                <a:solidFill>
                  <a:srgbClr val="2D3621"/>
                </a:solidFill>
                <a:latin typeface="Courier Prime"/>
                <a:ea typeface="Courier Prime"/>
                <a:cs typeface="Courier Prime"/>
                <a:sym typeface="Courier Prime"/>
              </a:rPr>
              <a:t>This approach explores how the distance both physical and economic creates</a:t>
            </a:r>
            <a:r>
              <a:rPr lang="en-US" sz="3600" u="none" dirty="0">
                <a:solidFill>
                  <a:srgbClr val="2D3621"/>
                </a:solidFill>
                <a:latin typeface="Courier Prime"/>
                <a:ea typeface="Courier Prime"/>
                <a:cs typeface="Courier Prime"/>
                <a:sym typeface="Courier Prime"/>
              </a:rPr>
              <a:t> </a:t>
            </a:r>
            <a:r>
              <a:rPr lang="en-US" sz="3600" dirty="0">
                <a:solidFill>
                  <a:srgbClr val="2D3621"/>
                </a:solidFill>
                <a:latin typeface="Courier Prime"/>
                <a:ea typeface="Courier Prime"/>
                <a:cs typeface="Courier Prime"/>
                <a:sym typeface="Courier Prime"/>
              </a:rPr>
              <a:t>e</a:t>
            </a:r>
            <a:r>
              <a:rPr lang="en-US" sz="3600" u="none" dirty="0">
                <a:solidFill>
                  <a:srgbClr val="2D3621"/>
                </a:solidFill>
                <a:latin typeface="Courier Prime"/>
                <a:ea typeface="Courier Prime"/>
                <a:cs typeface="Courier Prime"/>
                <a:sym typeface="Courier Prime"/>
              </a:rPr>
              <a:t>m</a:t>
            </a:r>
            <a:r>
              <a:rPr lang="en-US" sz="3600" dirty="0">
                <a:solidFill>
                  <a:srgbClr val="2D3621"/>
                </a:solidFill>
                <a:latin typeface="Courier Prime"/>
                <a:ea typeface="Courier Prime"/>
                <a:cs typeface="Courier Prime"/>
                <a:sym typeface="Courier Prime"/>
              </a:rPr>
              <a:t>otio</a:t>
            </a:r>
            <a:r>
              <a:rPr lang="en-US" sz="3600" u="none" dirty="0">
                <a:solidFill>
                  <a:srgbClr val="2D3621"/>
                </a:solidFill>
                <a:latin typeface="Courier Prime"/>
                <a:ea typeface="Courier Prime"/>
                <a:cs typeface="Courier Prime"/>
                <a:sym typeface="Courier Prime"/>
              </a:rPr>
              <a:t>nal </a:t>
            </a:r>
            <a:r>
              <a:rPr lang="en-US" sz="3600" dirty="0">
                <a:solidFill>
                  <a:srgbClr val="2D3621"/>
                </a:solidFill>
                <a:latin typeface="Courier Prime"/>
                <a:ea typeface="Courier Prime"/>
                <a:cs typeface="Courier Prime"/>
                <a:sym typeface="Courier Prime"/>
              </a:rPr>
              <a:t>is</a:t>
            </a:r>
            <a:r>
              <a:rPr lang="en-US" sz="3600" u="none" dirty="0">
                <a:solidFill>
                  <a:srgbClr val="2D3621"/>
                </a:solidFill>
                <a:latin typeface="Courier Prime"/>
                <a:ea typeface="Courier Prime"/>
                <a:cs typeface="Courier Prime"/>
                <a:sym typeface="Courier Prime"/>
              </a:rPr>
              <a:t>ol</a:t>
            </a:r>
            <a:r>
              <a:rPr lang="en-US" sz="3600" dirty="0">
                <a:solidFill>
                  <a:srgbClr val="2D3621"/>
                </a:solidFill>
                <a:latin typeface="Courier Prime"/>
                <a:ea typeface="Courier Prime"/>
                <a:cs typeface="Courier Prime"/>
                <a:sym typeface="Courier Prime"/>
              </a:rPr>
              <a:t>a</a:t>
            </a:r>
            <a:r>
              <a:rPr lang="en-US" sz="3600" u="none" dirty="0">
                <a:solidFill>
                  <a:srgbClr val="2D3621"/>
                </a:solidFill>
                <a:latin typeface="Courier Prime"/>
                <a:ea typeface="Courier Prime"/>
                <a:cs typeface="Courier Prime"/>
                <a:sym typeface="Courier Prime"/>
              </a:rPr>
              <a:t>t</a:t>
            </a:r>
            <a:r>
              <a:rPr lang="en-US" sz="3600" dirty="0">
                <a:solidFill>
                  <a:srgbClr val="2D3621"/>
                </a:solidFill>
                <a:latin typeface="Courier Prime"/>
                <a:ea typeface="Courier Prime"/>
                <a:cs typeface="Courier Prime"/>
                <a:sym typeface="Courier Prime"/>
              </a:rPr>
              <a:t>ion</a:t>
            </a:r>
            <a:r>
              <a:rPr lang="en-US" sz="3600" u="none" dirty="0">
                <a:solidFill>
                  <a:srgbClr val="2D3621"/>
                </a:solidFill>
                <a:latin typeface="Courier Prime"/>
                <a:ea typeface="Courier Prime"/>
                <a:cs typeface="Courier Prime"/>
                <a:sym typeface="Courier Prime"/>
              </a:rPr>
              <a:t> and </a:t>
            </a:r>
            <a:r>
              <a:rPr lang="en-US" sz="3600" dirty="0">
                <a:solidFill>
                  <a:srgbClr val="2D3621"/>
                </a:solidFill>
                <a:latin typeface="Courier Prime"/>
                <a:ea typeface="Courier Prime"/>
                <a:cs typeface="Courier Prime"/>
                <a:sym typeface="Courier Prime"/>
              </a:rPr>
              <a:t>a shift in </a:t>
            </a:r>
            <a:r>
              <a:rPr lang="en-US" sz="3600" u="none" dirty="0">
                <a:solidFill>
                  <a:srgbClr val="2D3621"/>
                </a:solidFill>
                <a:latin typeface="Courier Prime"/>
                <a:ea typeface="Courier Prime"/>
                <a:cs typeface="Courier Prime"/>
                <a:sym typeface="Courier Prime"/>
              </a:rPr>
              <a:t>personal identit</a:t>
            </a:r>
            <a:r>
              <a:rPr lang="en-US" sz="3600" dirty="0">
                <a:solidFill>
                  <a:srgbClr val="2D3621"/>
                </a:solidFill>
                <a:latin typeface="Courier Prime"/>
                <a:ea typeface="Courier Prime"/>
                <a:cs typeface="Courier Prime"/>
                <a:sym typeface="Courier Prime"/>
              </a:rPr>
              <a:t>y</a:t>
            </a:r>
            <a:r>
              <a:rPr lang="en-US" sz="3600" u="none" dirty="0">
                <a:solidFill>
                  <a:srgbClr val="2D3621"/>
                </a:solidFill>
                <a:latin typeface="Courier Prime"/>
                <a:ea typeface="Courier Prime"/>
                <a:cs typeface="Courier Prime"/>
                <a:sym typeface="Courier Prime"/>
              </a:rPr>
              <a:t> </a:t>
            </a:r>
            <a:r>
              <a:rPr lang="en-US" sz="3600" dirty="0">
                <a:solidFill>
                  <a:srgbClr val="2D3621"/>
                </a:solidFill>
                <a:latin typeface="Courier Prime"/>
                <a:ea typeface="Courier Prime"/>
                <a:cs typeface="Courier Prime"/>
                <a:sym typeface="Courier Prime"/>
              </a:rPr>
              <a:t>f</a:t>
            </a:r>
            <a:r>
              <a:rPr lang="en-US" sz="3600" u="none" dirty="0">
                <a:solidFill>
                  <a:srgbClr val="2D3621"/>
                </a:solidFill>
                <a:latin typeface="Courier Prime"/>
                <a:ea typeface="Courier Prime"/>
                <a:cs typeface="Courier Prime"/>
                <a:sym typeface="Courier Prime"/>
              </a:rPr>
              <a:t>o</a:t>
            </a:r>
            <a:r>
              <a:rPr lang="en-US" sz="3600" dirty="0">
                <a:solidFill>
                  <a:srgbClr val="2D3621"/>
                </a:solidFill>
                <a:latin typeface="Courier Prime"/>
                <a:ea typeface="Courier Prime"/>
                <a:cs typeface="Courier Prime"/>
                <a:sym typeface="Courier Prime"/>
              </a:rPr>
              <a:t>r</a:t>
            </a:r>
            <a:r>
              <a:rPr lang="en-US" sz="3600" u="none" dirty="0">
                <a:solidFill>
                  <a:srgbClr val="2D3621"/>
                </a:solidFill>
                <a:latin typeface="Courier Prime"/>
                <a:ea typeface="Courier Prime"/>
                <a:cs typeface="Courier Prime"/>
                <a:sym typeface="Courier Prime"/>
              </a:rPr>
              <a:t> </a:t>
            </a:r>
            <a:r>
              <a:rPr lang="en-US" sz="3600" dirty="0">
                <a:solidFill>
                  <a:srgbClr val="2D3621"/>
                </a:solidFill>
                <a:latin typeface="Courier Prime"/>
                <a:ea typeface="Courier Prime"/>
                <a:cs typeface="Courier Prime"/>
                <a:sym typeface="Courier Prime"/>
              </a:rPr>
              <a:t>bo</a:t>
            </a:r>
            <a:r>
              <a:rPr lang="en-US" sz="3600" u="none" dirty="0">
                <a:solidFill>
                  <a:srgbClr val="2D3621"/>
                </a:solidFill>
                <a:latin typeface="Courier Prime"/>
                <a:ea typeface="Courier Prime"/>
                <a:cs typeface="Courier Prime"/>
                <a:sym typeface="Courier Prime"/>
              </a:rPr>
              <a:t>th </a:t>
            </a:r>
            <a:r>
              <a:rPr lang="en-US" sz="3600" dirty="0">
                <a:solidFill>
                  <a:srgbClr val="2D3621"/>
                </a:solidFill>
                <a:latin typeface="Courier Prime"/>
                <a:ea typeface="Courier Prime"/>
                <a:cs typeface="Courier Prime"/>
                <a:sym typeface="Courier Prime"/>
              </a:rPr>
              <a:t>m</a:t>
            </a:r>
            <a:r>
              <a:rPr lang="en-US" sz="3600" u="none" dirty="0">
                <a:solidFill>
                  <a:srgbClr val="2D3621"/>
                </a:solidFill>
                <a:latin typeface="Courier Prime"/>
                <a:ea typeface="Courier Prime"/>
                <a:cs typeface="Courier Prime"/>
                <a:sym typeface="Courier Prime"/>
              </a:rPr>
              <a:t>e</a:t>
            </a:r>
            <a:r>
              <a:rPr lang="en-US" sz="3600" dirty="0">
                <a:solidFill>
                  <a:srgbClr val="2D3621"/>
                </a:solidFill>
                <a:latin typeface="Courier Prime"/>
                <a:ea typeface="Courier Prime"/>
                <a:cs typeface="Courier Prime"/>
                <a:sym typeface="Courier Prime"/>
              </a:rPr>
              <a:t>n</a:t>
            </a:r>
            <a:r>
              <a:rPr lang="en-US" sz="3600" u="none" dirty="0">
                <a:solidFill>
                  <a:srgbClr val="2D3621"/>
                </a:solidFill>
                <a:latin typeface="Courier Prime"/>
                <a:ea typeface="Courier Prime"/>
                <a:cs typeface="Courier Prime"/>
                <a:sym typeface="Courier Prime"/>
              </a:rPr>
              <a:t>.</a:t>
            </a:r>
          </a:p>
          <a:p>
            <a:pPr algn="l">
              <a:lnSpc>
                <a:spcPts val="4681"/>
              </a:lnSpc>
            </a:pPr>
            <a:endParaRPr lang="en-US" sz="3600" u="none" dirty="0">
              <a:solidFill>
                <a:srgbClr val="2D3621"/>
              </a:solidFill>
              <a:latin typeface="Courier Prime"/>
              <a:ea typeface="Courier Prime"/>
              <a:cs typeface="Courier Prime"/>
              <a:sym typeface="Courier Prime"/>
            </a:endParaRPr>
          </a:p>
          <a:p>
            <a:pPr algn="l">
              <a:lnSpc>
                <a:spcPts val="4681"/>
              </a:lnSpc>
            </a:pPr>
            <a:r>
              <a:rPr lang="en-US" sz="3600" dirty="0">
                <a:solidFill>
                  <a:schemeClr val="accent2"/>
                </a:solidFill>
                <a:latin typeface="Courier Prime"/>
                <a:ea typeface="Courier Prime"/>
                <a:cs typeface="Courier Prime"/>
                <a:sym typeface="Courier Prime"/>
              </a:rPr>
              <a:t>Key Themes:</a:t>
            </a:r>
          </a:p>
          <a:p>
            <a:pPr marL="722020" lvl="1" indent="-361010" algn="l">
              <a:lnSpc>
                <a:spcPts val="4681"/>
              </a:lnSpc>
              <a:buFont typeface="Arial"/>
              <a:buChar char="•"/>
            </a:pPr>
            <a:r>
              <a:rPr lang="en-US" sz="3600" dirty="0">
                <a:solidFill>
                  <a:srgbClr val="2D3621"/>
                </a:solidFill>
                <a:latin typeface="Courier Prime"/>
                <a:ea typeface="Courier Prime"/>
                <a:cs typeface="Courier Prime"/>
                <a:sym typeface="Courier Prime"/>
              </a:rPr>
              <a:t>The emotional weight of watching a friend succeed while you remain trapped.</a:t>
            </a:r>
          </a:p>
          <a:p>
            <a:pPr marL="722020" lvl="1" indent="-361010" algn="l">
              <a:lnSpc>
                <a:spcPts val="4681"/>
              </a:lnSpc>
              <a:buFont typeface="Arial"/>
              <a:buChar char="•"/>
            </a:pPr>
            <a:r>
              <a:rPr lang="en-US" sz="3600" dirty="0">
                <a:solidFill>
                  <a:srgbClr val="2D3621"/>
                </a:solidFill>
                <a:latin typeface="Courier Prime"/>
                <a:ea typeface="Courier Prime"/>
                <a:cs typeface="Courier Prime"/>
                <a:sym typeface="Courier Prime"/>
              </a:rPr>
              <a:t>The identity crisis involved in becoming "Pete" to survive in a foreign country.</a:t>
            </a:r>
          </a:p>
          <a:p>
            <a:pPr algn="l">
              <a:lnSpc>
                <a:spcPts val="3841"/>
              </a:lnSpc>
            </a:pPr>
            <a:endParaRPr lang="en-US" sz="3600" dirty="0">
              <a:solidFill>
                <a:srgbClr val="2D3621"/>
              </a:solidFill>
              <a:latin typeface="Courier Prime"/>
              <a:ea typeface="Courier Prime"/>
              <a:cs typeface="Courier Prime"/>
              <a:sym typeface="Courier Prime"/>
            </a:endParaRPr>
          </a:p>
          <a:p>
            <a:pPr algn="l">
              <a:lnSpc>
                <a:spcPts val="3841"/>
              </a:lnSpc>
            </a:pPr>
            <a:endParaRPr lang="en-US" sz="3600" dirty="0">
              <a:solidFill>
                <a:srgbClr val="2D3621"/>
              </a:solidFill>
              <a:latin typeface="Courier Prime"/>
              <a:ea typeface="Courier Prime"/>
              <a:cs typeface="Courier Prime"/>
              <a:sym typeface="Courier Prime"/>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1825540" y="2095500"/>
            <a:ext cx="14596011" cy="5514971"/>
          </a:xfrm>
          <a:prstGeom prst="rect">
            <a:avLst/>
          </a:prstGeom>
        </p:spPr>
        <p:txBody>
          <a:bodyPr lIns="0" tIns="0" rIns="0" bIns="0" rtlCol="0" anchor="t">
            <a:spAutoFit/>
          </a:bodyPr>
          <a:lstStyle/>
          <a:p>
            <a:pPr algn="l">
              <a:lnSpc>
                <a:spcPts val="4261"/>
              </a:lnSpc>
            </a:pPr>
            <a:endParaRPr sz="3600" dirty="0"/>
          </a:p>
          <a:p>
            <a:pPr marL="657252" lvl="1" indent="-328626" algn="l">
              <a:lnSpc>
                <a:spcPts val="4261"/>
              </a:lnSpc>
              <a:buFont typeface="Arial"/>
              <a:buChar char="•"/>
            </a:pPr>
            <a:r>
              <a:rPr lang="en-US" sz="3600" dirty="0">
                <a:solidFill>
                  <a:schemeClr val="accent2"/>
                </a:solidFill>
                <a:latin typeface="Courier Prime"/>
                <a:ea typeface="Courier Prime"/>
                <a:cs typeface="Courier Prime"/>
                <a:sym typeface="Courier Prime"/>
              </a:rPr>
              <a:t>Identity Transformation: </a:t>
            </a:r>
            <a:r>
              <a:rPr lang="en-US" sz="3600" dirty="0">
                <a:solidFill>
                  <a:srgbClr val="2D3621"/>
                </a:solidFill>
                <a:latin typeface="Courier Prime"/>
                <a:ea typeface="Courier Prime"/>
                <a:cs typeface="Courier Prime"/>
                <a:sym typeface="Courier Prime"/>
              </a:rPr>
              <a:t>By changing his name from “Pedro” to “Pete,” he symbolically reshapes his identity to fit the expectations of American society and gain acceptance.</a:t>
            </a:r>
          </a:p>
          <a:p>
            <a:pPr marL="328626" lvl="1" algn="l">
              <a:lnSpc>
                <a:spcPts val="4261"/>
              </a:lnSpc>
            </a:pPr>
            <a:endParaRPr lang="en-US" sz="3600" dirty="0">
              <a:solidFill>
                <a:srgbClr val="2D3621"/>
              </a:solidFill>
              <a:latin typeface="Courier Prime"/>
              <a:ea typeface="Courier Prime"/>
              <a:cs typeface="Courier Prime"/>
              <a:sym typeface="Courier Prime"/>
            </a:endParaRPr>
          </a:p>
          <a:p>
            <a:pPr marL="657252" lvl="1" indent="-328626" algn="l">
              <a:lnSpc>
                <a:spcPts val="4261"/>
              </a:lnSpc>
              <a:buFont typeface="Arial"/>
              <a:buChar char="•"/>
            </a:pPr>
            <a:r>
              <a:rPr lang="en-US" sz="3600" dirty="0">
                <a:solidFill>
                  <a:schemeClr val="accent2"/>
                </a:solidFill>
                <a:latin typeface="Courier Prime"/>
                <a:ea typeface="Courier Prime"/>
                <a:cs typeface="Courier Prime"/>
                <a:sym typeface="Courier Prime"/>
              </a:rPr>
              <a:t>Hidden Emotional Pressure:</a:t>
            </a:r>
            <a:r>
              <a:rPr lang="en-US" sz="3600" dirty="0">
                <a:solidFill>
                  <a:srgbClr val="2D3621"/>
                </a:solidFill>
                <a:latin typeface="Courier Prime"/>
                <a:ea typeface="Courier Prime"/>
                <a:cs typeface="Courier Prime"/>
                <a:sym typeface="Courier Prime"/>
              </a:rPr>
              <a:t> Pete may feel the need to prove that leaving home was the right choice, creating internal stress and the fear of disappointing those who remained in the village.</a:t>
            </a:r>
          </a:p>
        </p:txBody>
      </p:sp>
      <p:sp>
        <p:nvSpPr>
          <p:cNvPr id="5" name="TextBox 5"/>
          <p:cNvSpPr txBox="1"/>
          <p:nvPr/>
        </p:nvSpPr>
        <p:spPr>
          <a:xfrm>
            <a:off x="1143000" y="1562100"/>
            <a:ext cx="14059553" cy="873171"/>
          </a:xfrm>
          <a:prstGeom prst="rect">
            <a:avLst/>
          </a:prstGeom>
        </p:spPr>
        <p:txBody>
          <a:bodyPr lIns="0" tIns="0" rIns="0" bIns="0" rtlCol="0" anchor="t">
            <a:spAutoFit/>
          </a:bodyPr>
          <a:lstStyle/>
          <a:p>
            <a:pPr algn="ctr">
              <a:lnSpc>
                <a:spcPts val="5273"/>
              </a:lnSpc>
            </a:pPr>
            <a:r>
              <a:rPr lang="en-US" sz="5859" spc="-216" dirty="0">
                <a:solidFill>
                  <a:srgbClr val="2D3621"/>
                </a:solidFill>
                <a:latin typeface="TAN Harmoni"/>
                <a:ea typeface="TAN Harmoni"/>
                <a:cs typeface="TAN Harmoni"/>
                <a:sym typeface="TAN Harmoni"/>
              </a:rPr>
              <a:t>1.THE EMIGRANT’S PSYCHOLOGICAL SHIFT (PEDRO/PETE)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1845995" y="3924300"/>
            <a:ext cx="14596011" cy="2206373"/>
          </a:xfrm>
          <a:prstGeom prst="rect">
            <a:avLst/>
          </a:prstGeom>
        </p:spPr>
        <p:txBody>
          <a:bodyPr lIns="0" tIns="0" rIns="0" bIns="0" rtlCol="0" anchor="t">
            <a:spAutoFit/>
          </a:bodyPr>
          <a:lstStyle/>
          <a:p>
            <a:pPr marL="657252" lvl="1" indent="-328626" algn="l">
              <a:lnSpc>
                <a:spcPts val="4261"/>
              </a:lnSpc>
              <a:buFont typeface="Arial"/>
              <a:buChar char="•"/>
            </a:pPr>
            <a:r>
              <a:rPr lang="en-US" sz="3600" dirty="0">
                <a:solidFill>
                  <a:schemeClr val="accent2"/>
                </a:solidFill>
                <a:latin typeface="Courier Prime"/>
                <a:ea typeface="Courier Prime"/>
                <a:cs typeface="Courier Prime"/>
                <a:sym typeface="Courier Prime"/>
              </a:rPr>
              <a:t>Sense of Being Left Behind: </a:t>
            </a:r>
            <a:r>
              <a:rPr lang="en-US" sz="3600" dirty="0">
                <a:latin typeface="Courier Prime"/>
                <a:ea typeface="Courier Prime"/>
                <a:cs typeface="Courier Prime"/>
                <a:sym typeface="Courier Prime"/>
              </a:rPr>
              <a:t>The narrator remains in the village where life continues with limited opportunities, which may create feelings of frustration and self-doubt.</a:t>
            </a:r>
          </a:p>
        </p:txBody>
      </p:sp>
      <p:sp>
        <p:nvSpPr>
          <p:cNvPr id="5" name="TextBox 5"/>
          <p:cNvSpPr txBox="1"/>
          <p:nvPr/>
        </p:nvSpPr>
        <p:spPr>
          <a:xfrm>
            <a:off x="1610354" y="2476500"/>
            <a:ext cx="15067292" cy="735138"/>
          </a:xfrm>
          <a:prstGeom prst="rect">
            <a:avLst/>
          </a:prstGeom>
        </p:spPr>
        <p:txBody>
          <a:bodyPr lIns="0" tIns="0" rIns="0" bIns="0" rtlCol="0" anchor="t">
            <a:spAutoFit/>
          </a:bodyPr>
          <a:lstStyle/>
          <a:p>
            <a:pPr marL="632492" lvl="1" algn="l">
              <a:lnSpc>
                <a:spcPts val="5273"/>
              </a:lnSpc>
            </a:pPr>
            <a:r>
              <a:rPr lang="en-US" sz="5859" spc="-216" dirty="0">
                <a:solidFill>
                  <a:srgbClr val="2D3621"/>
                </a:solidFill>
                <a:latin typeface="TAN Harmoni"/>
                <a:ea typeface="TAN Harmoni"/>
                <a:cs typeface="TAN Harmoni"/>
                <a:sym typeface="TAN Harmoni"/>
              </a:rPr>
              <a:t>2. THE VILLAGER’S MENTAL STRUGGLE (THE WRITER ITSELF)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1984417" y="2552700"/>
            <a:ext cx="14319166" cy="4626908"/>
          </a:xfrm>
          <a:prstGeom prst="rect">
            <a:avLst/>
          </a:prstGeom>
        </p:spPr>
        <p:txBody>
          <a:bodyPr wrap="square" lIns="0" tIns="0" rIns="0" bIns="0" rtlCol="0" anchor="t">
            <a:spAutoFit/>
          </a:bodyPr>
          <a:lstStyle/>
          <a:p>
            <a:pPr marL="614073" lvl="1" indent="-307037" algn="l">
              <a:lnSpc>
                <a:spcPts val="3981"/>
              </a:lnSpc>
              <a:buFont typeface="Arial"/>
              <a:buChar char="•"/>
            </a:pPr>
            <a:r>
              <a:rPr lang="en-US" sz="3600" dirty="0">
                <a:solidFill>
                  <a:schemeClr val="accent2"/>
                </a:solidFill>
                <a:latin typeface="Courier Prime"/>
                <a:ea typeface="Courier Prime"/>
                <a:cs typeface="Courier Prime"/>
                <a:sym typeface="Courier Prime"/>
              </a:rPr>
              <a:t>Changing Perspectives: </a:t>
            </a:r>
            <a:r>
              <a:rPr lang="en-US" sz="3600" dirty="0">
                <a:solidFill>
                  <a:srgbClr val="2D3621"/>
                </a:solidFill>
                <a:latin typeface="Courier Prime"/>
                <a:ea typeface="Courier Prime"/>
                <a:cs typeface="Courier Prime"/>
                <a:sym typeface="Courier Prime"/>
              </a:rPr>
              <a:t>Living in different environments shapes their values and priorities, gradually creating emotional and psychological distance.</a:t>
            </a:r>
          </a:p>
          <a:p>
            <a:pPr marL="307036" lvl="1" algn="l">
              <a:lnSpc>
                <a:spcPts val="3981"/>
              </a:lnSpc>
            </a:pPr>
            <a:endParaRPr lang="en-US" sz="3600" dirty="0">
              <a:solidFill>
                <a:srgbClr val="2D3621"/>
              </a:solidFill>
              <a:latin typeface="Courier Prime"/>
              <a:ea typeface="Courier Prime"/>
              <a:cs typeface="Courier Prime"/>
              <a:sym typeface="Courier Prime"/>
            </a:endParaRPr>
          </a:p>
          <a:p>
            <a:pPr marL="614073" lvl="1" indent="-307037" algn="l">
              <a:lnSpc>
                <a:spcPts val="3981"/>
              </a:lnSpc>
              <a:buFont typeface="Arial"/>
              <a:buChar char="•"/>
            </a:pPr>
            <a:r>
              <a:rPr lang="en-US" sz="3600" dirty="0">
                <a:solidFill>
                  <a:schemeClr val="accent2"/>
                </a:solidFill>
                <a:latin typeface="Courier Prime"/>
                <a:ea typeface="Courier Prime"/>
                <a:cs typeface="Courier Prime"/>
                <a:sym typeface="Courier Prime"/>
              </a:rPr>
              <a:t>Memories vs. Present Reality: </a:t>
            </a:r>
            <a:r>
              <a:rPr lang="en-US" sz="3600" dirty="0">
                <a:solidFill>
                  <a:srgbClr val="2D3621"/>
                </a:solidFill>
                <a:latin typeface="Courier Prime"/>
                <a:ea typeface="Courier Prime"/>
                <a:cs typeface="Courier Prime"/>
                <a:sym typeface="Courier Prime"/>
              </a:rPr>
              <a:t>Their friendship becomes rooted in shared memories, showing how relationships can weaken when daily experiences are no longer shared.</a:t>
            </a:r>
          </a:p>
        </p:txBody>
      </p:sp>
      <p:sp>
        <p:nvSpPr>
          <p:cNvPr id="5" name="TextBox 5"/>
          <p:cNvSpPr txBox="1"/>
          <p:nvPr/>
        </p:nvSpPr>
        <p:spPr>
          <a:xfrm>
            <a:off x="1610355" y="1485900"/>
            <a:ext cx="15067292" cy="735138"/>
          </a:xfrm>
          <a:prstGeom prst="rect">
            <a:avLst/>
          </a:prstGeom>
        </p:spPr>
        <p:txBody>
          <a:bodyPr lIns="0" tIns="0" rIns="0" bIns="0" rtlCol="0" anchor="t">
            <a:spAutoFit/>
          </a:bodyPr>
          <a:lstStyle/>
          <a:p>
            <a:pPr marL="632492" lvl="1" algn="l">
              <a:lnSpc>
                <a:spcPts val="5273"/>
              </a:lnSpc>
            </a:pPr>
            <a:r>
              <a:rPr lang="en-US" sz="5859" spc="-216" dirty="0">
                <a:solidFill>
                  <a:srgbClr val="2D3621"/>
                </a:solidFill>
                <a:latin typeface="TAN Harmoni"/>
                <a:ea typeface="TAN Harmoni"/>
                <a:cs typeface="TAN Harmoni"/>
                <a:sym typeface="TAN Harmoni"/>
              </a:rPr>
              <a:t>3. FRIENDSHIP TESTED BY DISTANCE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a:extLst>
            <a:ext uri="{FF2B5EF4-FFF2-40B4-BE49-F238E27FC236}">
              <a16:creationId xmlns:a16="http://schemas.microsoft.com/office/drawing/2014/main" id="{3CD90CDA-6CF3-A54E-9DBA-CD295A7BAA7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3E09860-6211-BFB5-51C0-20B9607395A3}"/>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3">
              <a:extLst>
                <a:ext uri="{96DAC541-7B7A-43D3-8B79-37D633B846F1}">
                  <asvg:svgBlip xmlns:asvg="http://schemas.microsoft.com/office/drawing/2016/SVG/main" r:embed="rId4"/>
                </a:ext>
              </a:extLst>
            </a:blip>
            <a:stretch>
              <a:fillRect b="-91370"/>
            </a:stretch>
          </a:blipFill>
        </p:spPr>
      </p:sp>
      <p:sp>
        <p:nvSpPr>
          <p:cNvPr id="3" name="Freeform 3">
            <a:extLst>
              <a:ext uri="{FF2B5EF4-FFF2-40B4-BE49-F238E27FC236}">
                <a16:creationId xmlns:a16="http://schemas.microsoft.com/office/drawing/2014/main" id="{998E8393-F727-9823-BFB5-4C442D6019F9}"/>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3">
              <a:extLst>
                <a:ext uri="{96DAC541-7B7A-43D3-8B79-37D633B846F1}">
                  <asvg:svgBlip xmlns:asvg="http://schemas.microsoft.com/office/drawing/2016/SVG/main" r:embed="rId4"/>
                </a:ext>
              </a:extLst>
            </a:blip>
            <a:stretch>
              <a:fillRect b="-91370"/>
            </a:stretch>
          </a:blipFill>
        </p:spPr>
      </p:sp>
      <p:sp>
        <p:nvSpPr>
          <p:cNvPr id="4" name="TextBox 4">
            <a:extLst>
              <a:ext uri="{FF2B5EF4-FFF2-40B4-BE49-F238E27FC236}">
                <a16:creationId xmlns:a16="http://schemas.microsoft.com/office/drawing/2014/main" id="{23AEB6CE-0C32-1843-3A19-C364D4DDFFA0}"/>
              </a:ext>
            </a:extLst>
          </p:cNvPr>
          <p:cNvSpPr txBox="1"/>
          <p:nvPr/>
        </p:nvSpPr>
        <p:spPr>
          <a:xfrm>
            <a:off x="5182955" y="3238500"/>
            <a:ext cx="11885845" cy="2430665"/>
          </a:xfrm>
          <a:prstGeom prst="rect">
            <a:avLst/>
          </a:prstGeom>
        </p:spPr>
        <p:txBody>
          <a:bodyPr lIns="0" tIns="0" rIns="0" bIns="0" rtlCol="0" anchor="t">
            <a:spAutoFit/>
          </a:bodyPr>
          <a:lstStyle/>
          <a:p>
            <a:pPr algn="l">
              <a:lnSpc>
                <a:spcPts val="17487"/>
              </a:lnSpc>
            </a:pPr>
            <a:r>
              <a:rPr lang="en-US" sz="19430" spc="-718" dirty="0">
                <a:solidFill>
                  <a:srgbClr val="E8E3DB"/>
                </a:solidFill>
                <a:latin typeface="TAN Harmoni"/>
                <a:ea typeface="TAN Harmoni"/>
                <a:cs typeface="TAN Harmoni"/>
                <a:sym typeface="TAN Harmoni"/>
              </a:rPr>
              <a:t>CULTURAL</a:t>
            </a:r>
          </a:p>
        </p:txBody>
      </p:sp>
      <p:sp>
        <p:nvSpPr>
          <p:cNvPr id="5" name="TextBox 5">
            <a:extLst>
              <a:ext uri="{FF2B5EF4-FFF2-40B4-BE49-F238E27FC236}">
                <a16:creationId xmlns:a16="http://schemas.microsoft.com/office/drawing/2014/main" id="{2D7CC4C0-051E-BEE2-5E1C-BCF2499FB357}"/>
              </a:ext>
            </a:extLst>
          </p:cNvPr>
          <p:cNvSpPr txBox="1"/>
          <p:nvPr/>
        </p:nvSpPr>
        <p:spPr>
          <a:xfrm>
            <a:off x="6146623" y="5339541"/>
            <a:ext cx="6253363" cy="2003307"/>
          </a:xfrm>
          <a:prstGeom prst="rect">
            <a:avLst/>
          </a:prstGeom>
        </p:spPr>
        <p:txBody>
          <a:bodyPr lIns="0" tIns="0" rIns="0" bIns="0" rtlCol="0" anchor="t">
            <a:spAutoFit/>
          </a:bodyPr>
          <a:lstStyle/>
          <a:p>
            <a:pPr algn="l">
              <a:lnSpc>
                <a:spcPts val="12187"/>
              </a:lnSpc>
            </a:pPr>
            <a:r>
              <a:rPr lang="en-US" sz="13542" spc="-501">
                <a:solidFill>
                  <a:srgbClr val="E8E3DB"/>
                </a:solidFill>
                <a:latin typeface="TAN Harmoni"/>
                <a:ea typeface="TAN Harmoni"/>
                <a:cs typeface="TAN Harmoni"/>
                <a:sym typeface="TAN Harmoni"/>
              </a:rPr>
              <a:t>APPROACH</a:t>
            </a:r>
          </a:p>
        </p:txBody>
      </p:sp>
    </p:spTree>
    <p:extLst>
      <p:ext uri="{BB962C8B-B14F-4D97-AF65-F5344CB8AC3E}">
        <p14:creationId xmlns:p14="http://schemas.microsoft.com/office/powerpoint/2010/main" val="13642320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a:extLst>
            <a:ext uri="{FF2B5EF4-FFF2-40B4-BE49-F238E27FC236}">
              <a16:creationId xmlns:a16="http://schemas.microsoft.com/office/drawing/2014/main" id="{E2EFE00A-0137-B8A3-B385-C0325F5CF57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78B1B2-A087-24CF-570C-180F6EFDFDBF}"/>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a:extLst>
              <a:ext uri="{FF2B5EF4-FFF2-40B4-BE49-F238E27FC236}">
                <a16:creationId xmlns:a16="http://schemas.microsoft.com/office/drawing/2014/main" id="{AA6FE579-86C2-6C75-5C70-070B94820940}"/>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a:extLst>
              <a:ext uri="{FF2B5EF4-FFF2-40B4-BE49-F238E27FC236}">
                <a16:creationId xmlns:a16="http://schemas.microsoft.com/office/drawing/2014/main" id="{A7DA975D-81CE-7A3C-8981-F2A63E5261CF}"/>
              </a:ext>
            </a:extLst>
          </p:cNvPr>
          <p:cNvSpPr txBox="1"/>
          <p:nvPr/>
        </p:nvSpPr>
        <p:spPr>
          <a:xfrm>
            <a:off x="1866900" y="3009900"/>
            <a:ext cx="14554200" cy="3631763"/>
          </a:xfrm>
          <a:prstGeom prst="rect">
            <a:avLst/>
          </a:prstGeom>
        </p:spPr>
        <p:txBody>
          <a:bodyPr wrap="square" lIns="0" tIns="0" rIns="0" bIns="0" rtlCol="0" anchor="t">
            <a:spAutoFit/>
          </a:bodyPr>
          <a:lstStyle/>
          <a:p>
            <a:pPr marL="307036" lvl="1" algn="l">
              <a:lnSpc>
                <a:spcPts val="3981"/>
              </a:lnSpc>
            </a:pPr>
            <a:r>
              <a:rPr lang="en-US" sz="4400" dirty="0">
                <a:latin typeface="Courier Prime"/>
                <a:ea typeface="Courier Prime"/>
                <a:cs typeface="Courier Prime"/>
                <a:sym typeface="Courier Prime"/>
              </a:rPr>
              <a:t>The cultural approach examines how a literary work reflects the traditions, beliefs, values, and practices of the society in which it was written.</a:t>
            </a:r>
          </a:p>
          <a:p>
            <a:pPr marL="307036" lvl="1" algn="l">
              <a:lnSpc>
                <a:spcPts val="3981"/>
              </a:lnSpc>
            </a:pPr>
            <a:endParaRPr lang="en-US" sz="4400" dirty="0">
              <a:latin typeface="Courier Prime"/>
              <a:ea typeface="Courier Prime"/>
              <a:cs typeface="Courier Prime"/>
              <a:sym typeface="Courier Prime"/>
            </a:endParaRPr>
          </a:p>
          <a:p>
            <a:pPr marL="307036" lvl="1" algn="l">
              <a:lnSpc>
                <a:spcPts val="3981"/>
              </a:lnSpc>
            </a:pPr>
            <a:r>
              <a:rPr lang="en-US" sz="4400" dirty="0">
                <a:latin typeface="Courier Prime"/>
                <a:ea typeface="Courier Prime"/>
                <a:cs typeface="Courier Prime"/>
                <a:sym typeface="Courier Prime"/>
              </a:rPr>
              <a:t>It asks: What does this text reveal about the culture of its time?</a:t>
            </a:r>
          </a:p>
        </p:txBody>
      </p:sp>
    </p:spTree>
    <p:extLst>
      <p:ext uri="{BB962C8B-B14F-4D97-AF65-F5344CB8AC3E}">
        <p14:creationId xmlns:p14="http://schemas.microsoft.com/office/powerpoint/2010/main" val="6297200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a:extLst>
            <a:ext uri="{FF2B5EF4-FFF2-40B4-BE49-F238E27FC236}">
              <a16:creationId xmlns:a16="http://schemas.microsoft.com/office/drawing/2014/main" id="{457DDE6D-7F76-4FF8-AD68-7401F898EF7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9520794-5A49-F5E3-6FFD-C6A6898B6E3A}"/>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a:extLst>
              <a:ext uri="{FF2B5EF4-FFF2-40B4-BE49-F238E27FC236}">
                <a16:creationId xmlns:a16="http://schemas.microsoft.com/office/drawing/2014/main" id="{4AADE660-37F1-3D11-E546-783EC2B0C2CE}"/>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a:extLst>
              <a:ext uri="{FF2B5EF4-FFF2-40B4-BE49-F238E27FC236}">
                <a16:creationId xmlns:a16="http://schemas.microsoft.com/office/drawing/2014/main" id="{C01DBC9B-8417-C4AE-149E-9A786EE6AF35}"/>
              </a:ext>
            </a:extLst>
          </p:cNvPr>
          <p:cNvSpPr txBox="1"/>
          <p:nvPr/>
        </p:nvSpPr>
        <p:spPr>
          <a:xfrm>
            <a:off x="1772456" y="3390900"/>
            <a:ext cx="14706600" cy="2605842"/>
          </a:xfrm>
          <a:prstGeom prst="rect">
            <a:avLst/>
          </a:prstGeom>
        </p:spPr>
        <p:txBody>
          <a:bodyPr wrap="square" lIns="0" tIns="0" rIns="0" bIns="0" rtlCol="0" anchor="t">
            <a:spAutoFit/>
          </a:bodyPr>
          <a:lstStyle/>
          <a:p>
            <a:pPr marL="307036" lvl="1" algn="l">
              <a:lnSpc>
                <a:spcPts val="3981"/>
              </a:lnSpc>
            </a:pPr>
            <a:r>
              <a:rPr lang="en-US" sz="4400" dirty="0">
                <a:latin typeface="Courier Prime"/>
                <a:ea typeface="Courier Prime"/>
                <a:cs typeface="Courier Prime"/>
                <a:sym typeface="Courier Prime"/>
              </a:rPr>
              <a:t>The story reflects Filipino values and attitudes during a time when many had to leave their own country to seek freedom or opportunities, enduring hardship while staying connected to home and loved ones.</a:t>
            </a:r>
          </a:p>
        </p:txBody>
      </p:sp>
      <p:sp>
        <p:nvSpPr>
          <p:cNvPr id="5" name="TextBox 5">
            <a:extLst>
              <a:ext uri="{FF2B5EF4-FFF2-40B4-BE49-F238E27FC236}">
                <a16:creationId xmlns:a16="http://schemas.microsoft.com/office/drawing/2014/main" id="{1A7C57F1-2D53-742A-37D0-4A64237025DB}"/>
              </a:ext>
            </a:extLst>
          </p:cNvPr>
          <p:cNvSpPr txBox="1"/>
          <p:nvPr/>
        </p:nvSpPr>
        <p:spPr>
          <a:xfrm>
            <a:off x="1411764" y="2019300"/>
            <a:ext cx="15067292" cy="735138"/>
          </a:xfrm>
          <a:prstGeom prst="rect">
            <a:avLst/>
          </a:prstGeom>
        </p:spPr>
        <p:txBody>
          <a:bodyPr lIns="0" tIns="0" rIns="0" bIns="0" rtlCol="0" anchor="t">
            <a:spAutoFit/>
          </a:bodyPr>
          <a:lstStyle/>
          <a:p>
            <a:pPr marL="632492" lvl="1" algn="l">
              <a:lnSpc>
                <a:spcPts val="5273"/>
              </a:lnSpc>
            </a:pPr>
            <a:r>
              <a:rPr lang="en-US" sz="5859" spc="-216" dirty="0">
                <a:solidFill>
                  <a:srgbClr val="2D3621"/>
                </a:solidFill>
                <a:latin typeface="TAN Harmoni"/>
                <a:ea typeface="TAN Harmoni"/>
                <a:cs typeface="TAN Harmoni"/>
                <a:sym typeface="TAN Harmoni"/>
              </a:rPr>
              <a:t>CULTURAL APPROACH APPLIED TO LETTER TO PEDRO</a:t>
            </a:r>
          </a:p>
        </p:txBody>
      </p:sp>
    </p:spTree>
    <p:extLst>
      <p:ext uri="{BB962C8B-B14F-4D97-AF65-F5344CB8AC3E}">
        <p14:creationId xmlns:p14="http://schemas.microsoft.com/office/powerpoint/2010/main" val="532863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8E3DB"/>
        </a:solidFill>
        <a:effectLst/>
      </p:bgPr>
    </p:bg>
    <p:spTree>
      <p:nvGrpSpPr>
        <p:cNvPr id="1" name="">
          <a:extLst>
            <a:ext uri="{FF2B5EF4-FFF2-40B4-BE49-F238E27FC236}">
              <a16:creationId xmlns:a16="http://schemas.microsoft.com/office/drawing/2014/main" id="{978490D7-8E00-C12D-DDC6-8C7DB5D00CF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E86D96-0611-C7CC-8931-849756320A2A}"/>
              </a:ext>
            </a:extLst>
          </p:cNvPr>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a:extLst>
              <a:ext uri="{FF2B5EF4-FFF2-40B4-BE49-F238E27FC236}">
                <a16:creationId xmlns:a16="http://schemas.microsoft.com/office/drawing/2014/main" id="{AC9496D8-9828-C1B1-CC91-4096DEA878C2}"/>
              </a:ext>
            </a:extLst>
          </p:cNvPr>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a:extLst>
              <a:ext uri="{FF2B5EF4-FFF2-40B4-BE49-F238E27FC236}">
                <a16:creationId xmlns:a16="http://schemas.microsoft.com/office/drawing/2014/main" id="{F21D2545-E4AB-91C9-CCFE-B55CD6EA496B}"/>
              </a:ext>
            </a:extLst>
          </p:cNvPr>
          <p:cNvSpPr txBox="1"/>
          <p:nvPr/>
        </p:nvSpPr>
        <p:spPr>
          <a:xfrm>
            <a:off x="1772456" y="3390900"/>
            <a:ext cx="14706600" cy="1066959"/>
          </a:xfrm>
          <a:prstGeom prst="rect">
            <a:avLst/>
          </a:prstGeom>
        </p:spPr>
        <p:txBody>
          <a:bodyPr wrap="square" lIns="0" tIns="0" rIns="0" bIns="0" rtlCol="0" anchor="t">
            <a:spAutoFit/>
          </a:bodyPr>
          <a:lstStyle/>
          <a:p>
            <a:pPr marL="878536" lvl="1" indent="-571500" algn="l">
              <a:lnSpc>
                <a:spcPts val="3981"/>
              </a:lnSpc>
              <a:buFont typeface="Arial" panose="020B0604020202020204" pitchFamily="34" charset="0"/>
              <a:buChar char="•"/>
            </a:pPr>
            <a:r>
              <a:rPr lang="en-US" sz="4400" dirty="0">
                <a:solidFill>
                  <a:schemeClr val="accent2"/>
                </a:solidFill>
                <a:latin typeface="Courier Prime"/>
                <a:ea typeface="Courier Prime"/>
                <a:cs typeface="Courier Prime"/>
                <a:sym typeface="Courier Prime"/>
              </a:rPr>
              <a:t>Companionship</a:t>
            </a:r>
            <a:r>
              <a:rPr lang="en-US" sz="4400" dirty="0">
                <a:latin typeface="Courier Prime"/>
                <a:ea typeface="Courier Prime"/>
                <a:cs typeface="Courier Prime"/>
                <a:sym typeface="Courier Prime"/>
              </a:rPr>
              <a:t>– showing care and concern for friends.</a:t>
            </a:r>
          </a:p>
        </p:txBody>
      </p:sp>
      <p:sp>
        <p:nvSpPr>
          <p:cNvPr id="5" name="TextBox 5">
            <a:extLst>
              <a:ext uri="{FF2B5EF4-FFF2-40B4-BE49-F238E27FC236}">
                <a16:creationId xmlns:a16="http://schemas.microsoft.com/office/drawing/2014/main" id="{0EB0543E-D370-4405-EA88-790AD4649F68}"/>
              </a:ext>
            </a:extLst>
          </p:cNvPr>
          <p:cNvSpPr txBox="1"/>
          <p:nvPr/>
        </p:nvSpPr>
        <p:spPr>
          <a:xfrm>
            <a:off x="1411764" y="2019300"/>
            <a:ext cx="15067292" cy="735138"/>
          </a:xfrm>
          <a:prstGeom prst="rect">
            <a:avLst/>
          </a:prstGeom>
        </p:spPr>
        <p:txBody>
          <a:bodyPr lIns="0" tIns="0" rIns="0" bIns="0" rtlCol="0" anchor="t">
            <a:spAutoFit/>
          </a:bodyPr>
          <a:lstStyle/>
          <a:p>
            <a:pPr marL="632492" lvl="1" algn="l">
              <a:lnSpc>
                <a:spcPts val="5273"/>
              </a:lnSpc>
            </a:pPr>
            <a:r>
              <a:rPr lang="en-US" sz="5859" spc="-216" dirty="0">
                <a:solidFill>
                  <a:srgbClr val="2D3621"/>
                </a:solidFill>
                <a:latin typeface="TAN Harmoni"/>
                <a:ea typeface="TAN Harmoni"/>
                <a:cs typeface="TAN Harmoni"/>
                <a:sym typeface="TAN Harmoni"/>
              </a:rPr>
              <a:t>FILIPINO VALUES IN LETTER TO PEDRO</a:t>
            </a:r>
          </a:p>
        </p:txBody>
      </p:sp>
      <p:sp>
        <p:nvSpPr>
          <p:cNvPr id="8" name="TextBox 4">
            <a:extLst>
              <a:ext uri="{FF2B5EF4-FFF2-40B4-BE49-F238E27FC236}">
                <a16:creationId xmlns:a16="http://schemas.microsoft.com/office/drawing/2014/main" id="{272E8353-79E7-81EC-F019-F8C3C7701D62}"/>
              </a:ext>
            </a:extLst>
          </p:cNvPr>
          <p:cNvSpPr txBox="1"/>
          <p:nvPr/>
        </p:nvSpPr>
        <p:spPr>
          <a:xfrm>
            <a:off x="1772456" y="6819900"/>
            <a:ext cx="14706600" cy="1579920"/>
          </a:xfrm>
          <a:prstGeom prst="rect">
            <a:avLst/>
          </a:prstGeom>
        </p:spPr>
        <p:txBody>
          <a:bodyPr wrap="square" lIns="0" tIns="0" rIns="0" bIns="0" rtlCol="0" anchor="t">
            <a:spAutoFit/>
          </a:bodyPr>
          <a:lstStyle/>
          <a:p>
            <a:pPr marL="878536" lvl="1" indent="-571500" algn="l">
              <a:lnSpc>
                <a:spcPts val="3981"/>
              </a:lnSpc>
              <a:buFont typeface="Arial" panose="020B0604020202020204" pitchFamily="34" charset="0"/>
              <a:buChar char="•"/>
            </a:pPr>
            <a:r>
              <a:rPr lang="en-US" sz="4400" dirty="0">
                <a:solidFill>
                  <a:schemeClr val="accent2"/>
                </a:solidFill>
                <a:latin typeface="Courier Prime"/>
                <a:ea typeface="Courier Prime"/>
                <a:cs typeface="Courier Prime"/>
                <a:sym typeface="Courier Prime"/>
              </a:rPr>
              <a:t>Optimism</a:t>
            </a:r>
            <a:r>
              <a:rPr lang="en-US" sz="4400" dirty="0">
                <a:latin typeface="Courier Prime"/>
                <a:ea typeface="Courier Prime"/>
                <a:cs typeface="Courier Prime"/>
                <a:sym typeface="Courier Prime"/>
              </a:rPr>
              <a:t> – Showed resilience and hope while living under a repressive government.</a:t>
            </a:r>
          </a:p>
        </p:txBody>
      </p:sp>
      <p:sp>
        <p:nvSpPr>
          <p:cNvPr id="9" name="TextBox 4">
            <a:extLst>
              <a:ext uri="{FF2B5EF4-FFF2-40B4-BE49-F238E27FC236}">
                <a16:creationId xmlns:a16="http://schemas.microsoft.com/office/drawing/2014/main" id="{C764DAEF-9379-9A33-6D26-57BE82C14498}"/>
              </a:ext>
            </a:extLst>
          </p:cNvPr>
          <p:cNvSpPr txBox="1"/>
          <p:nvPr/>
        </p:nvSpPr>
        <p:spPr>
          <a:xfrm>
            <a:off x="1772456" y="5067300"/>
            <a:ext cx="14706600" cy="1066959"/>
          </a:xfrm>
          <a:prstGeom prst="rect">
            <a:avLst/>
          </a:prstGeom>
        </p:spPr>
        <p:txBody>
          <a:bodyPr wrap="square" lIns="0" tIns="0" rIns="0" bIns="0" rtlCol="0" anchor="t">
            <a:spAutoFit/>
          </a:bodyPr>
          <a:lstStyle/>
          <a:p>
            <a:pPr marL="878536" lvl="1" indent="-571500" algn="l">
              <a:lnSpc>
                <a:spcPts val="3981"/>
              </a:lnSpc>
              <a:buFont typeface="Arial" panose="020B0604020202020204" pitchFamily="34" charset="0"/>
              <a:buChar char="•"/>
            </a:pPr>
            <a:r>
              <a:rPr lang="en-US" sz="4400" dirty="0">
                <a:solidFill>
                  <a:schemeClr val="accent2"/>
                </a:solidFill>
                <a:latin typeface="Courier Prime"/>
                <a:ea typeface="Courier Prime"/>
                <a:cs typeface="Courier Prime"/>
                <a:sym typeface="Courier Prime"/>
              </a:rPr>
              <a:t>Adaptability</a:t>
            </a:r>
            <a:r>
              <a:rPr lang="en-US" sz="4400" dirty="0">
                <a:latin typeface="Courier Prime"/>
                <a:ea typeface="Courier Prime"/>
                <a:cs typeface="Courier Prime"/>
                <a:sym typeface="Courier Prime"/>
              </a:rPr>
              <a:t> – being able to adjust to new or foreign situations.</a:t>
            </a:r>
          </a:p>
        </p:txBody>
      </p:sp>
    </p:spTree>
    <p:extLst>
      <p:ext uri="{BB962C8B-B14F-4D97-AF65-F5344CB8AC3E}">
        <p14:creationId xmlns:p14="http://schemas.microsoft.com/office/powerpoint/2010/main" val="3227427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grpSp>
        <p:nvGrpSpPr>
          <p:cNvPr id="2" name="Group 2"/>
          <p:cNvGrpSpPr/>
          <p:nvPr/>
        </p:nvGrpSpPr>
        <p:grpSpPr>
          <a:xfrm>
            <a:off x="0" y="4838700"/>
            <a:ext cx="18288000" cy="5448300"/>
            <a:chOff x="0" y="0"/>
            <a:chExt cx="4816593" cy="1354667"/>
          </a:xfrm>
        </p:grpSpPr>
        <p:sp>
          <p:nvSpPr>
            <p:cNvPr id="3" name="Freeform 3"/>
            <p:cNvSpPr/>
            <p:nvPr/>
          </p:nvSpPr>
          <p:spPr>
            <a:xfrm>
              <a:off x="0" y="0"/>
              <a:ext cx="4816592" cy="1354667"/>
            </a:xfrm>
            <a:custGeom>
              <a:avLst/>
              <a:gdLst/>
              <a:ahLst/>
              <a:cxnLst/>
              <a:rect l="l" t="t" r="r" b="b"/>
              <a:pathLst>
                <a:path w="4816592" h="1354667">
                  <a:moveTo>
                    <a:pt x="0" y="0"/>
                  </a:moveTo>
                  <a:lnTo>
                    <a:pt x="4816592" y="0"/>
                  </a:lnTo>
                  <a:lnTo>
                    <a:pt x="4816592" y="1354667"/>
                  </a:lnTo>
                  <a:lnTo>
                    <a:pt x="0" y="1354667"/>
                  </a:lnTo>
                  <a:close/>
                </a:path>
              </a:pathLst>
            </a:custGeom>
            <a:solidFill>
              <a:srgbClr val="E8E3DB"/>
            </a:solidFill>
          </p:spPr>
        </p:sp>
        <p:sp>
          <p:nvSpPr>
            <p:cNvPr id="4" name="TextBox 4"/>
            <p:cNvSpPr txBox="1"/>
            <p:nvPr/>
          </p:nvSpPr>
          <p:spPr>
            <a:xfrm>
              <a:off x="0" y="-38100"/>
              <a:ext cx="4816593" cy="1392767"/>
            </a:xfrm>
            <a:prstGeom prst="rect">
              <a:avLst/>
            </a:prstGeom>
          </p:spPr>
          <p:txBody>
            <a:bodyPr lIns="50800" tIns="50800" rIns="50800" bIns="50800" rtlCol="0" anchor="ctr"/>
            <a:lstStyle/>
            <a:p>
              <a:pPr algn="ctr">
                <a:lnSpc>
                  <a:spcPts val="2520"/>
                </a:lnSpc>
              </a:pPr>
              <a:endParaRPr/>
            </a:p>
          </p:txBody>
        </p:sp>
      </p:grpSp>
      <p:sp>
        <p:nvSpPr>
          <p:cNvPr id="5" name="TextBox 5"/>
          <p:cNvSpPr txBox="1"/>
          <p:nvPr/>
        </p:nvSpPr>
        <p:spPr>
          <a:xfrm>
            <a:off x="434899" y="1819531"/>
            <a:ext cx="7436536" cy="2114551"/>
          </a:xfrm>
          <a:prstGeom prst="rect">
            <a:avLst/>
          </a:prstGeom>
        </p:spPr>
        <p:txBody>
          <a:bodyPr lIns="0" tIns="0" rIns="0" bIns="0" rtlCol="0" anchor="t">
            <a:spAutoFit/>
          </a:bodyPr>
          <a:lstStyle/>
          <a:p>
            <a:pPr algn="ctr">
              <a:lnSpc>
                <a:spcPts val="7200"/>
              </a:lnSpc>
            </a:pPr>
            <a:r>
              <a:rPr lang="en-US" sz="8000" spc="-296" dirty="0">
                <a:solidFill>
                  <a:srgbClr val="E8E3DB"/>
                </a:solidFill>
                <a:latin typeface="TAN Harmoni"/>
                <a:ea typeface="TAN Harmoni"/>
                <a:cs typeface="TAN Harmoni"/>
                <a:sym typeface="TAN Harmoni"/>
              </a:rPr>
              <a:t>CORE MESSAGE OF THE LETTER TO PEDRO</a:t>
            </a:r>
          </a:p>
        </p:txBody>
      </p:sp>
      <p:sp>
        <p:nvSpPr>
          <p:cNvPr id="6" name="Freeform 6"/>
          <p:cNvSpPr/>
          <p:nvPr/>
        </p:nvSpPr>
        <p:spPr>
          <a:xfrm>
            <a:off x="2090312" y="1028700"/>
            <a:ext cx="4125711" cy="457579"/>
          </a:xfrm>
          <a:custGeom>
            <a:avLst/>
            <a:gdLst/>
            <a:ahLst/>
            <a:cxnLst/>
            <a:rect l="l" t="t" r="r" b="b"/>
            <a:pathLst>
              <a:path w="4125711" h="457579">
                <a:moveTo>
                  <a:pt x="0" y="0"/>
                </a:moveTo>
                <a:lnTo>
                  <a:pt x="4125711" y="0"/>
                </a:lnTo>
                <a:lnTo>
                  <a:pt x="4125711" y="457579"/>
                </a:lnTo>
                <a:lnTo>
                  <a:pt x="0" y="4575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flipV="1">
            <a:off x="2090312" y="3705292"/>
            <a:ext cx="4125711" cy="457579"/>
          </a:xfrm>
          <a:custGeom>
            <a:avLst/>
            <a:gdLst/>
            <a:ahLst/>
            <a:cxnLst/>
            <a:rect l="l" t="t" r="r" b="b"/>
            <a:pathLst>
              <a:path w="4125711" h="457579">
                <a:moveTo>
                  <a:pt x="0" y="457579"/>
                </a:moveTo>
                <a:lnTo>
                  <a:pt x="4125711" y="457579"/>
                </a:lnTo>
                <a:lnTo>
                  <a:pt x="4125711" y="0"/>
                </a:lnTo>
                <a:lnTo>
                  <a:pt x="0" y="0"/>
                </a:lnTo>
                <a:lnTo>
                  <a:pt x="0" y="45757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8318641" y="1233426"/>
            <a:ext cx="8940659" cy="3500958"/>
          </a:xfrm>
          <a:prstGeom prst="rect">
            <a:avLst/>
          </a:prstGeom>
        </p:spPr>
        <p:txBody>
          <a:bodyPr lIns="0" tIns="0" rIns="0" bIns="0" rtlCol="0" anchor="t">
            <a:spAutoFit/>
          </a:bodyPr>
          <a:lstStyle/>
          <a:p>
            <a:pPr algn="l">
              <a:lnSpc>
                <a:spcPts val="3919"/>
              </a:lnSpc>
            </a:pPr>
            <a:r>
              <a:rPr lang="en-US" sz="3200" dirty="0">
                <a:solidFill>
                  <a:srgbClr val="E8E3DB"/>
                </a:solidFill>
                <a:latin typeface="Courier Prime"/>
                <a:ea typeface="Courier Prime"/>
                <a:cs typeface="Courier Prime"/>
                <a:sym typeface="Courier Prime"/>
              </a:rPr>
              <a:t>The poem shows that leaving one’s home to seek a better life abroad often comes with deep personal sacrifices especially the loss of closeness with family and community.</a:t>
            </a:r>
          </a:p>
          <a:p>
            <a:pPr algn="l">
              <a:lnSpc>
                <a:spcPts val="3919"/>
              </a:lnSpc>
            </a:pPr>
            <a:endParaRPr lang="en-US" sz="3200" dirty="0">
              <a:solidFill>
                <a:srgbClr val="E8E3DB"/>
              </a:solidFill>
              <a:latin typeface="Courier Prime"/>
              <a:ea typeface="Courier Prime"/>
              <a:cs typeface="Courier Prime"/>
              <a:sym typeface="Courier Prime"/>
            </a:endParaRPr>
          </a:p>
          <a:p>
            <a:pPr algn="l">
              <a:lnSpc>
                <a:spcPts val="3919"/>
              </a:lnSpc>
            </a:pPr>
            <a:endParaRPr lang="en-US" sz="3200" dirty="0">
              <a:solidFill>
                <a:srgbClr val="E8E3DB"/>
              </a:solidFill>
              <a:latin typeface="Courier Prime"/>
              <a:ea typeface="Courier Prime"/>
              <a:cs typeface="Courier Prime"/>
              <a:sym typeface="Courier Prime"/>
            </a:endParaRPr>
          </a:p>
        </p:txBody>
      </p:sp>
      <p:sp>
        <p:nvSpPr>
          <p:cNvPr id="9" name="TextBox 9"/>
          <p:cNvSpPr txBox="1"/>
          <p:nvPr/>
        </p:nvSpPr>
        <p:spPr>
          <a:xfrm>
            <a:off x="609600" y="4909215"/>
            <a:ext cx="17526000" cy="5101397"/>
          </a:xfrm>
          <a:prstGeom prst="rect">
            <a:avLst/>
          </a:prstGeom>
        </p:spPr>
        <p:txBody>
          <a:bodyPr wrap="square" lIns="0" tIns="0" rIns="0" bIns="0" rtlCol="0" anchor="t">
            <a:spAutoFit/>
          </a:bodyPr>
          <a:lstStyle/>
          <a:p>
            <a:pPr algn="l">
              <a:lnSpc>
                <a:spcPts val="3639"/>
              </a:lnSpc>
            </a:pPr>
            <a:endParaRPr sz="3600" dirty="0"/>
          </a:p>
          <a:p>
            <a:pPr algn="l">
              <a:lnSpc>
                <a:spcPts val="3639"/>
              </a:lnSpc>
            </a:pPr>
            <a:r>
              <a:rPr lang="en-US" sz="3600" dirty="0">
                <a:solidFill>
                  <a:srgbClr val="2D3621"/>
                </a:solidFill>
                <a:latin typeface="Courier Prime"/>
                <a:ea typeface="Courier Prime"/>
                <a:cs typeface="Courier Prime"/>
                <a:sym typeface="Courier Prime"/>
              </a:rPr>
              <a:t>The speaker writes to Pedro to explain how life has changed since migration. </a:t>
            </a:r>
            <a:r>
              <a:rPr lang="en-US" sz="3600">
                <a:solidFill>
                  <a:srgbClr val="2D3621"/>
                </a:solidFill>
                <a:latin typeface="Courier Prime"/>
                <a:ea typeface="Courier Prime"/>
                <a:cs typeface="Courier Prime"/>
                <a:sym typeface="Courier Prime"/>
              </a:rPr>
              <a:t>This suggests </a:t>
            </a:r>
            <a:r>
              <a:rPr lang="en-US" sz="3600" dirty="0">
                <a:solidFill>
                  <a:srgbClr val="2D3621"/>
                </a:solidFill>
                <a:latin typeface="Courier Prime"/>
                <a:ea typeface="Courier Prime"/>
                <a:cs typeface="Courier Prime"/>
                <a:sym typeface="Courier Prime"/>
              </a:rPr>
              <a:t>that:</a:t>
            </a:r>
          </a:p>
          <a:p>
            <a:pPr algn="l">
              <a:lnSpc>
                <a:spcPts val="3639"/>
              </a:lnSpc>
            </a:pPr>
            <a:endParaRPr lang="en-US" sz="3600" dirty="0">
              <a:solidFill>
                <a:srgbClr val="2D3621"/>
              </a:solidFill>
              <a:latin typeface="Courier Prime"/>
              <a:ea typeface="Courier Prime"/>
              <a:cs typeface="Courier Prime"/>
              <a:sym typeface="Courier Prime"/>
            </a:endParaRPr>
          </a:p>
          <a:p>
            <a:pPr algn="l">
              <a:lnSpc>
                <a:spcPts val="3639"/>
              </a:lnSpc>
            </a:pPr>
            <a:r>
              <a:rPr lang="en-US" sz="3600" dirty="0">
                <a:solidFill>
                  <a:schemeClr val="accent2"/>
                </a:solidFill>
                <a:latin typeface="Courier Prime"/>
                <a:ea typeface="Courier Prime"/>
                <a:cs typeface="Courier Prime"/>
                <a:sym typeface="Courier Prime"/>
              </a:rPr>
              <a:t>• Economic survival often forces people to leave their homeland.</a:t>
            </a:r>
          </a:p>
          <a:p>
            <a:pPr algn="l">
              <a:lnSpc>
                <a:spcPts val="3639"/>
              </a:lnSpc>
            </a:pPr>
            <a:r>
              <a:rPr lang="en-US" sz="3600" dirty="0">
                <a:solidFill>
                  <a:schemeClr val="accent2"/>
                </a:solidFill>
                <a:latin typeface="Courier Prime"/>
                <a:ea typeface="Courier Prime"/>
                <a:cs typeface="Courier Prime"/>
                <a:sym typeface="Courier Prime"/>
              </a:rPr>
              <a:t>• Distance can weaken emotional connections between family and friends.</a:t>
            </a:r>
          </a:p>
          <a:p>
            <a:pPr algn="l">
              <a:lnSpc>
                <a:spcPts val="3639"/>
              </a:lnSpc>
            </a:pPr>
            <a:r>
              <a:rPr lang="en-US" sz="3600" dirty="0">
                <a:solidFill>
                  <a:schemeClr val="accent2"/>
                </a:solidFill>
                <a:latin typeface="Courier Prime"/>
                <a:ea typeface="Courier Prime"/>
                <a:cs typeface="Courier Prime"/>
                <a:sym typeface="Courier Prime"/>
              </a:rPr>
              <a:t>• Migration can transform a person into someone their old community may barely recognize.</a:t>
            </a:r>
          </a:p>
          <a:p>
            <a:pPr algn="l">
              <a:lnSpc>
                <a:spcPts val="3639"/>
              </a:lnSpc>
            </a:pPr>
            <a:endParaRPr lang="en-US" sz="3600" dirty="0">
              <a:solidFill>
                <a:srgbClr val="2D3621"/>
              </a:solidFill>
              <a:latin typeface="Courier Prime"/>
              <a:ea typeface="Courier Prime"/>
              <a:cs typeface="Courier Prime"/>
              <a:sym typeface="Courier Prime"/>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D362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9429404" y="1478923"/>
            <a:ext cx="9381372" cy="7329154"/>
          </a:xfrm>
          <a:custGeom>
            <a:avLst/>
            <a:gdLst/>
            <a:ahLst/>
            <a:cxnLst/>
            <a:rect l="l" t="t" r="r" b="b"/>
            <a:pathLst>
              <a:path w="9381372" h="7329154">
                <a:moveTo>
                  <a:pt x="9381371" y="7329154"/>
                </a:moveTo>
                <a:lnTo>
                  <a:pt x="0" y="7329154"/>
                </a:lnTo>
                <a:lnTo>
                  <a:pt x="0" y="0"/>
                </a:lnTo>
                <a:lnTo>
                  <a:pt x="9381371" y="0"/>
                </a:lnTo>
                <a:lnTo>
                  <a:pt x="9381371" y="7329154"/>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3" name="Freeform 3"/>
          <p:cNvSpPr/>
          <p:nvPr/>
        </p:nvSpPr>
        <p:spPr>
          <a:xfrm rot="-5400000">
            <a:off x="-522775" y="1478923"/>
            <a:ext cx="9381372" cy="7329154"/>
          </a:xfrm>
          <a:custGeom>
            <a:avLst/>
            <a:gdLst/>
            <a:ahLst/>
            <a:cxnLst/>
            <a:rect l="l" t="t" r="r" b="b"/>
            <a:pathLst>
              <a:path w="9381372" h="7329154">
                <a:moveTo>
                  <a:pt x="0" y="0"/>
                </a:moveTo>
                <a:lnTo>
                  <a:pt x="9381371" y="0"/>
                </a:lnTo>
                <a:lnTo>
                  <a:pt x="9381371" y="7329154"/>
                </a:lnTo>
                <a:lnTo>
                  <a:pt x="0" y="7329154"/>
                </a:lnTo>
                <a:lnTo>
                  <a:pt x="0" y="0"/>
                </a:lnTo>
                <a:close/>
              </a:path>
            </a:pathLst>
          </a:custGeom>
          <a:blipFill>
            <a:blip r:embed="rId2">
              <a:extLst>
                <a:ext uri="{96DAC541-7B7A-43D3-8B79-37D633B846F1}">
                  <asvg:svgBlip xmlns:asvg="http://schemas.microsoft.com/office/drawing/2016/SVG/main" r:embed="rId3"/>
                </a:ext>
              </a:extLst>
            </a:blip>
            <a:stretch>
              <a:fillRect b="-91370"/>
            </a:stretch>
          </a:blipFill>
        </p:spPr>
      </p:sp>
      <p:sp>
        <p:nvSpPr>
          <p:cNvPr id="4" name="TextBox 4"/>
          <p:cNvSpPr txBox="1"/>
          <p:nvPr/>
        </p:nvSpPr>
        <p:spPr>
          <a:xfrm>
            <a:off x="2795778" y="2798768"/>
            <a:ext cx="12696445" cy="3642330"/>
          </a:xfrm>
          <a:prstGeom prst="rect">
            <a:avLst/>
          </a:prstGeom>
        </p:spPr>
        <p:txBody>
          <a:bodyPr lIns="0" tIns="0" rIns="0" bIns="0" rtlCol="0" anchor="t">
            <a:spAutoFit/>
          </a:bodyPr>
          <a:lstStyle/>
          <a:p>
            <a:pPr algn="ctr">
              <a:lnSpc>
                <a:spcPts val="22046"/>
              </a:lnSpc>
            </a:pPr>
            <a:r>
              <a:rPr lang="en-US" sz="24496" spc="-906">
                <a:solidFill>
                  <a:srgbClr val="FFFFFF"/>
                </a:solidFill>
                <a:latin typeface="TAN Harmoni"/>
                <a:ea typeface="TAN Harmoni"/>
                <a:cs typeface="TAN Harmoni"/>
                <a:sym typeface="TAN Harmoni"/>
              </a:rPr>
              <a:t>THANK YOU!</a:t>
            </a:r>
          </a:p>
        </p:txBody>
      </p:sp>
      <p:sp>
        <p:nvSpPr>
          <p:cNvPr id="5" name="TextBox 5"/>
          <p:cNvSpPr txBox="1"/>
          <p:nvPr/>
        </p:nvSpPr>
        <p:spPr>
          <a:xfrm>
            <a:off x="5525915" y="6095636"/>
            <a:ext cx="7012654" cy="1330048"/>
          </a:xfrm>
          <a:prstGeom prst="rect">
            <a:avLst/>
          </a:prstGeom>
        </p:spPr>
        <p:txBody>
          <a:bodyPr lIns="0" tIns="0" rIns="0" bIns="0" rtlCol="0" anchor="t">
            <a:spAutoFit/>
          </a:bodyPr>
          <a:lstStyle/>
          <a:p>
            <a:pPr algn="ctr">
              <a:lnSpc>
                <a:spcPts val="3480"/>
              </a:lnSpc>
            </a:pPr>
            <a:r>
              <a:rPr lang="en-US" sz="3252" dirty="0">
                <a:solidFill>
                  <a:srgbClr val="FFFFFF"/>
                </a:solidFill>
                <a:latin typeface="Courier Prime"/>
                <a:ea typeface="Courier Prime"/>
                <a:cs typeface="Courier Prime"/>
                <a:sym typeface="Courier Prime"/>
              </a:rPr>
              <a:t>Brucelo</a:t>
            </a:r>
          </a:p>
          <a:p>
            <a:pPr algn="ctr">
              <a:lnSpc>
                <a:spcPts val="3480"/>
              </a:lnSpc>
            </a:pPr>
            <a:r>
              <a:rPr lang="en-US" sz="3252" dirty="0" err="1">
                <a:solidFill>
                  <a:srgbClr val="FFFFFF"/>
                </a:solidFill>
                <a:latin typeface="Courier Prime"/>
                <a:ea typeface="Courier Prime"/>
                <a:cs typeface="Courier Prime"/>
                <a:sym typeface="Courier Prime"/>
              </a:rPr>
              <a:t>Calisura</a:t>
            </a:r>
            <a:endParaRPr lang="en-US" sz="3252" dirty="0">
              <a:solidFill>
                <a:srgbClr val="FFFFFF"/>
              </a:solidFill>
              <a:latin typeface="Courier Prime"/>
              <a:ea typeface="Courier Prime"/>
              <a:cs typeface="Courier Prime"/>
              <a:sym typeface="Courier Prime"/>
            </a:endParaRPr>
          </a:p>
          <a:p>
            <a:pPr algn="ctr">
              <a:lnSpc>
                <a:spcPts val="3480"/>
              </a:lnSpc>
            </a:pPr>
            <a:r>
              <a:rPr lang="en-US" sz="3252" dirty="0">
                <a:solidFill>
                  <a:srgbClr val="FFFFFF"/>
                </a:solidFill>
                <a:latin typeface="Courier Prime"/>
                <a:ea typeface="Courier Prime"/>
                <a:cs typeface="Courier Prime"/>
                <a:sym typeface="Courier Prime"/>
              </a:rPr>
              <a:t>Dela Cruz</a:t>
            </a:r>
          </a:p>
        </p:txBody>
      </p:sp>
      <p:sp>
        <p:nvSpPr>
          <p:cNvPr id="6" name="Freeform 6"/>
          <p:cNvSpPr/>
          <p:nvPr/>
        </p:nvSpPr>
        <p:spPr>
          <a:xfrm rot="4393831">
            <a:off x="7822477" y="6010913"/>
            <a:ext cx="1878785" cy="4582402"/>
          </a:xfrm>
          <a:custGeom>
            <a:avLst/>
            <a:gdLst/>
            <a:ahLst/>
            <a:cxnLst/>
            <a:rect l="l" t="t" r="r" b="b"/>
            <a:pathLst>
              <a:path w="1878785" h="4582402">
                <a:moveTo>
                  <a:pt x="0" y="0"/>
                </a:moveTo>
                <a:lnTo>
                  <a:pt x="1878784" y="0"/>
                </a:lnTo>
                <a:lnTo>
                  <a:pt x="1878784" y="4582402"/>
                </a:lnTo>
                <a:lnTo>
                  <a:pt x="0" y="4582402"/>
                </a:lnTo>
                <a:lnTo>
                  <a:pt x="0" y="0"/>
                </a:lnTo>
                <a:close/>
              </a:path>
            </a:pathLst>
          </a:custGeom>
          <a:blipFill>
            <a:blip r:embed="rId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TotalTime>
  <Words>2147</Words>
  <Application>Microsoft Office PowerPoint</Application>
  <PresentationFormat>Custom</PresentationFormat>
  <Paragraphs>241</Paragraphs>
  <Slides>36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Courier Prime</vt:lpstr>
      <vt:lpstr>Calibri</vt:lpstr>
      <vt:lpstr>TAN Harmoni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G2: Letter to Pedro</dc:title>
  <cp:lastModifiedBy>Claire Marion Brucelo</cp:lastModifiedBy>
  <cp:revision>13</cp:revision>
  <dcterms:created xsi:type="dcterms:W3CDTF">2006-08-16T00:00:00Z</dcterms:created>
  <dcterms:modified xsi:type="dcterms:W3CDTF">2026-03-22T14:30:21Z</dcterms:modified>
  <dc:identifier>DAHDLUFKTw8</dc:identifier>
</cp:coreProperties>
</file>